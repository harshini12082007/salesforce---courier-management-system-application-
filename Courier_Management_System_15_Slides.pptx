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1695" cy="6858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 autoAdjust="0"/>
    <p:restoredTop sz="94660" autoAdjust="0"/>
  </p:normalViewPr>
  <p:slideViewPr>
    <p:cSldViewPr snapToGrid="0" snapToObjects="1">
      <p:cViewPr varScale="1">
        <p:scale>
          <a:sx n="84" d="100"/>
          <a:sy n="84" d="100"/>
        </p:scale>
        <p:origin x="0" y="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914377" y="2130425"/>
            <a:ext cx="1036294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754" y="3886199"/>
            <a:ext cx="8534186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6604996"/>
      </p:ext>
    </p:extLst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4797355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3461282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742910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194328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8700105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2074427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1049120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4012172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9304752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2378680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 rot="0">
            <a:off x="457200" y="6356349"/>
            <a:ext cx="2133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l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 rot="0">
            <a:off x="3124200" y="6356349"/>
            <a:ext cx="2895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6553200" y="6356349"/>
            <a:ext cx="2133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867354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 rot="0">
            <a:off x="457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l"/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9/27/2026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3"/>
          </p:nvPr>
        </p:nvSpPr>
        <p:spPr>
          <a:xfrm rot="0">
            <a:off x="3124200" y="6356349"/>
            <a:ext cx="2895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idx="4"/>
          </p:nvPr>
        </p:nvSpPr>
        <p:spPr>
          <a:xfrm rot="0">
            <a:off x="6553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679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32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itchFamily="0" charset="0"/>
        <a:buChar char="–"/>
        <a:defRPr sz="28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4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itchFamily="0" charset="0"/>
        <a:buChar char="–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itchFamily="0" charset="0"/>
        <a:buChar char="»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1.png"/><Relationship Id="rId2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172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"/>
          <p:cNvSpPr>
            <a:spLocks/>
          </p:cNvSpPr>
          <p:nvPr/>
        </p:nvSpPr>
        <p:spPr>
          <a:xfrm rot="0">
            <a:off x="640080" y="1097280"/>
            <a:ext cx="146304" cy="4754880"/>
          </a:xfrm>
          <a:prstGeom prst="rect"/>
          <a:solidFill>
            <a:srgbClr val="4393C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1" name="矩形"/>
          <p:cNvSpPr>
            <a:spLocks/>
          </p:cNvSpPr>
          <p:nvPr/>
        </p:nvSpPr>
        <p:spPr>
          <a:xfrm rot="0">
            <a:off x="10881359" y="822960"/>
            <a:ext cx="411480" cy="5303520"/>
          </a:xfrm>
          <a:prstGeom prst="rect"/>
          <a:solidFill>
            <a:srgbClr val="2A68A8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2" name="矩形"/>
          <p:cNvSpPr>
            <a:spLocks/>
          </p:cNvSpPr>
          <p:nvPr/>
        </p:nvSpPr>
        <p:spPr>
          <a:xfrm rot="0">
            <a:off x="1143000" y="1828800"/>
            <a:ext cx="6245733" cy="110426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0" i="0" u="none" strike="noStrike" kern="1200" cap="none" spc="0" baseline="0">
                <a:solidFill>
                  <a:srgbClr val="FFFFFF"/>
                </a:solidFill>
                <a:latin typeface="Aptos Display" pitchFamily="0" charset="0"/>
                <a:ea typeface="宋体" pitchFamily="0" charset="0"/>
                <a:cs typeface="Calibri" pitchFamily="0" charset="0"/>
              </a:rPr>
              <a:t>COURIER MANAGEMENT SYSTEM</a:t>
            </a:r>
            <a:endParaRPr lang="en-US" altLang="zh-CN" sz="3600" b="0" i="0" u="none" strike="noStrike" kern="1200" cap="none" spc="0" baseline="0">
              <a:solidFill>
                <a:srgbClr val="FFFFFF"/>
              </a:solidFill>
              <a:latin typeface="Aptos Display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300" b="0" i="0" u="none" strike="noStrike" kern="1200" cap="none" spc="0" baseline="0">
                <a:solidFill>
                  <a:srgbClr val="BED7E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Salesforce-Based Cloud Solution</a:t>
            </a:r>
            <a:endParaRPr lang="zh-CN" altLang="en-US" sz="2300" b="0" i="0" u="none" strike="noStrike" kern="1200" cap="none" spc="0" baseline="0">
              <a:solidFill>
                <a:srgbClr val="BED7E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3" name="矩形"/>
          <p:cNvSpPr>
            <a:spLocks/>
          </p:cNvSpPr>
          <p:nvPr/>
        </p:nvSpPr>
        <p:spPr>
          <a:xfrm rot="0">
            <a:off x="1170432" y="3794760"/>
            <a:ext cx="5362574" cy="6248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" b="0" i="0" u="none" strike="noStrike" kern="1200" cap="none" spc="0" baseline="0">
                <a:solidFill>
                  <a:srgbClr val="FFFFFF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Project Presentation</a:t>
            </a:r>
            <a:endParaRPr lang="en-US" altLang="zh-CN" sz="2100" b="0" i="0" u="none" strike="noStrike" kern="1200" cap="none" spc="0" baseline="0">
              <a:solidFill>
                <a:srgbClr val="FFFFFF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D2E1EE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Centralized shipment booking • tracking • assignment • billing • analytics</a:t>
            </a:r>
            <a:endParaRPr lang="zh-CN" altLang="en-US" sz="1500" b="0" i="0" u="none" strike="noStrike" kern="1200" cap="none" spc="0" baseline="0">
              <a:solidFill>
                <a:srgbClr val="D2E1EE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4" name="矩形"/>
          <p:cNvSpPr>
            <a:spLocks/>
          </p:cNvSpPr>
          <p:nvPr/>
        </p:nvSpPr>
        <p:spPr>
          <a:xfrm rot="0">
            <a:off x="1170432" y="5989320"/>
            <a:ext cx="2321432" cy="25336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BECDDC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Based on the provided CMS project document</a:t>
            </a:r>
            <a:endParaRPr lang="zh-CN" altLang="en-US" sz="1100" b="0" i="0" u="none" strike="noStrike" kern="1200" cap="none" spc="0" baseline="0">
              <a:solidFill>
                <a:srgbClr val="BECDDC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266564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 rot="0">
            <a:off x="0" y="0"/>
            <a:ext cx="12191694" cy="713232"/>
          </a:xfrm>
          <a:prstGeom prst="rect"/>
          <a:solidFill>
            <a:srgbClr val="172F4D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6" name="矩形"/>
          <p:cNvSpPr>
            <a:spLocks/>
          </p:cNvSpPr>
          <p:nvPr/>
        </p:nvSpPr>
        <p:spPr>
          <a:xfrm rot="0">
            <a:off x="502919" y="128015"/>
            <a:ext cx="2558415" cy="5010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0" i="0" u="none" strike="noStrike" kern="1200" cap="none" spc="0" baseline="0">
                <a:solidFill>
                  <a:srgbClr val="FFFFFF"/>
                </a:solidFill>
                <a:latin typeface="Aptos Display" pitchFamily="0" charset="0"/>
                <a:ea typeface="宋体" pitchFamily="0" charset="0"/>
                <a:cs typeface="Calibri" pitchFamily="0" charset="0"/>
              </a:rPr>
              <a:t>1. Project Overview</a:t>
            </a:r>
            <a:endParaRPr lang="zh-CN" altLang="en-US" sz="2700" b="0" i="0" u="none" strike="noStrike" kern="1200" cap="none" spc="0" baseline="0">
              <a:solidFill>
                <a:srgbClr val="FFFFFF"/>
              </a:solidFill>
              <a:latin typeface="Aptos Display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 rot="0">
            <a:off x="502919" y="6510528"/>
            <a:ext cx="2485262" cy="21526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5F6C7A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Courier Management System  |  Salesforce Project     2/15</a:t>
            </a:r>
            <a:endParaRPr lang="zh-CN" altLang="en-US" sz="900" b="0" i="0" u="none" strike="noStrike" kern="1200" cap="none" spc="0" baseline="0">
              <a:solidFill>
                <a:srgbClr val="5F6C7A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8" name="矩形"/>
          <p:cNvSpPr>
            <a:spLocks/>
          </p:cNvSpPr>
          <p:nvPr/>
        </p:nvSpPr>
        <p:spPr>
          <a:xfrm rot="0">
            <a:off x="731520" y="1143000"/>
            <a:ext cx="10698479" cy="211150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73152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19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Courier and logistics operations often depend on manual processes and disconnected systems.</a:t>
            </a:r>
            <a:endParaRPr lang="en-US" altLang="zh-CN" sz="19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19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CMS centralizes shipment booking, tracking, delivery-agent assignment, billing and analytics.</a:t>
            </a:r>
            <a:endParaRPr lang="en-US" altLang="zh-CN" sz="19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19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Salesforce provides the cloud platform for managing courier data and workflows.</a:t>
            </a:r>
            <a:endParaRPr lang="en-US" altLang="zh-CN" sz="19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19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Real-time visibility helps reduce delays, errors and communication gaps.</a:t>
            </a:r>
            <a:endParaRPr lang="en-US" altLang="zh-CN" sz="19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19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Supports operations across multiple branches.</a:t>
            </a:r>
            <a:endParaRPr lang="zh-CN" altLang="en-US" sz="19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9" name="圆角矩形"/>
          <p:cNvSpPr>
            <a:spLocks/>
          </p:cNvSpPr>
          <p:nvPr/>
        </p:nvSpPr>
        <p:spPr>
          <a:xfrm rot="0">
            <a:off x="8138160" y="4434840"/>
            <a:ext cx="3200400" cy="1234439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D7E0E9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0" name="矩形"/>
          <p:cNvSpPr>
            <a:spLocks/>
          </p:cNvSpPr>
          <p:nvPr/>
        </p:nvSpPr>
        <p:spPr>
          <a:xfrm rot="0">
            <a:off x="8138160" y="4434840"/>
            <a:ext cx="82296" cy="1234439"/>
          </a:xfrm>
          <a:prstGeom prst="rect"/>
          <a:solidFill>
            <a:srgbClr val="4393C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1" name="矩形"/>
          <p:cNvSpPr>
            <a:spLocks/>
          </p:cNvSpPr>
          <p:nvPr/>
        </p:nvSpPr>
        <p:spPr>
          <a:xfrm rot="0">
            <a:off x="8366760" y="4599431"/>
            <a:ext cx="955928" cy="3581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Core Goal</a:t>
            </a:r>
            <a:endParaRPr lang="zh-CN" altLang="en-US" sz="18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2" name="矩形"/>
          <p:cNvSpPr>
            <a:spLocks/>
          </p:cNvSpPr>
          <p:nvPr/>
        </p:nvSpPr>
        <p:spPr>
          <a:xfrm rot="0">
            <a:off x="8366760" y="5093207"/>
            <a:ext cx="2788920" cy="5105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Improve operational efficiency and customer satisfaction.</a:t>
            </a:r>
            <a:endParaRPr lang="zh-CN" altLang="en-US" sz="14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364714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"/>
          <p:cNvSpPr>
            <a:spLocks/>
          </p:cNvSpPr>
          <p:nvPr/>
        </p:nvSpPr>
        <p:spPr>
          <a:xfrm rot="0">
            <a:off x="0" y="0"/>
            <a:ext cx="12191694" cy="713232"/>
          </a:xfrm>
          <a:prstGeom prst="rect"/>
          <a:solidFill>
            <a:srgbClr val="172F4D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4" name="矩形"/>
          <p:cNvSpPr>
            <a:spLocks/>
          </p:cNvSpPr>
          <p:nvPr/>
        </p:nvSpPr>
        <p:spPr>
          <a:xfrm rot="0">
            <a:off x="502919" y="128015"/>
            <a:ext cx="4272914" cy="5010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0" i="0" u="none" strike="noStrike" kern="1200" cap="none" spc="0" baseline="0">
                <a:solidFill>
                  <a:srgbClr val="FFFFFF"/>
                </a:solidFill>
                <a:latin typeface="Aptos Display" pitchFamily="0" charset="0"/>
                <a:ea typeface="宋体" pitchFamily="0" charset="0"/>
                <a:cs typeface="Calibri" pitchFamily="0" charset="0"/>
              </a:rPr>
              <a:t>2. Problem Statement &amp; User Needs</a:t>
            </a:r>
            <a:endParaRPr lang="zh-CN" altLang="en-US" sz="2700" b="0" i="0" u="none" strike="noStrike" kern="1200" cap="none" spc="0" baseline="0">
              <a:solidFill>
                <a:srgbClr val="FFFFFF"/>
              </a:solidFill>
              <a:latin typeface="Aptos Display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5" name="矩形"/>
          <p:cNvSpPr>
            <a:spLocks/>
          </p:cNvSpPr>
          <p:nvPr/>
        </p:nvSpPr>
        <p:spPr>
          <a:xfrm rot="0">
            <a:off x="502919" y="6510528"/>
            <a:ext cx="2485262" cy="21526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5F6C7A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Courier Management System  |  Salesforce Project     3/15</a:t>
            </a:r>
            <a:endParaRPr lang="zh-CN" altLang="en-US" sz="900" b="0" i="0" u="none" strike="noStrike" kern="1200" cap="none" spc="0" baseline="0">
              <a:solidFill>
                <a:srgbClr val="5F6C7A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6" name="圆角矩形"/>
          <p:cNvSpPr>
            <a:spLocks/>
          </p:cNvSpPr>
          <p:nvPr/>
        </p:nvSpPr>
        <p:spPr>
          <a:xfrm rot="0">
            <a:off x="685800" y="1143000"/>
            <a:ext cx="5257800" cy="1920240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D7E0E9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7" name="矩形"/>
          <p:cNvSpPr>
            <a:spLocks/>
          </p:cNvSpPr>
          <p:nvPr/>
        </p:nvSpPr>
        <p:spPr>
          <a:xfrm rot="0">
            <a:off x="685800" y="1143000"/>
            <a:ext cx="82295" cy="1920240"/>
          </a:xfrm>
          <a:prstGeom prst="rect"/>
          <a:solidFill>
            <a:srgbClr val="2A68A8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8" name="矩形"/>
          <p:cNvSpPr>
            <a:spLocks/>
          </p:cNvSpPr>
          <p:nvPr/>
        </p:nvSpPr>
        <p:spPr>
          <a:xfrm rot="0">
            <a:off x="914400" y="1307592"/>
            <a:ext cx="1477136" cy="3581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Branch Manager</a:t>
            </a:r>
            <a:endParaRPr lang="zh-CN" altLang="en-US" sz="18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9" name="矩形"/>
          <p:cNvSpPr>
            <a:spLocks/>
          </p:cNvSpPr>
          <p:nvPr/>
        </p:nvSpPr>
        <p:spPr>
          <a:xfrm rot="0">
            <a:off x="914400" y="1801368"/>
            <a:ext cx="4846320" cy="5105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Needs to manage shipments efficiently, but manual tracking and disconnected systems create stress, conflicts and missed updates.</a:t>
            </a:r>
            <a:endParaRPr lang="zh-CN" altLang="en-US" sz="14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0" name="圆角矩形"/>
          <p:cNvSpPr>
            <a:spLocks/>
          </p:cNvSpPr>
          <p:nvPr/>
        </p:nvSpPr>
        <p:spPr>
          <a:xfrm rot="0">
            <a:off x="6217920" y="1143000"/>
            <a:ext cx="5257800" cy="1920240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D7E0E9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1" name="矩形"/>
          <p:cNvSpPr>
            <a:spLocks/>
          </p:cNvSpPr>
          <p:nvPr/>
        </p:nvSpPr>
        <p:spPr>
          <a:xfrm rot="0">
            <a:off x="6217920" y="1143000"/>
            <a:ext cx="82296" cy="1920240"/>
          </a:xfrm>
          <a:prstGeom prst="rect"/>
          <a:solidFill>
            <a:srgbClr val="4393C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2" name="矩形"/>
          <p:cNvSpPr>
            <a:spLocks/>
          </p:cNvSpPr>
          <p:nvPr/>
        </p:nvSpPr>
        <p:spPr>
          <a:xfrm rot="0">
            <a:off x="6446520" y="1307592"/>
            <a:ext cx="914780" cy="3581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Customer</a:t>
            </a:r>
            <a:endParaRPr lang="zh-CN" altLang="en-US" sz="18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3" name="矩形"/>
          <p:cNvSpPr>
            <a:spLocks/>
          </p:cNvSpPr>
          <p:nvPr/>
        </p:nvSpPr>
        <p:spPr>
          <a:xfrm rot="0">
            <a:off x="6446520" y="1801368"/>
            <a:ext cx="4846320" cy="5105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Needs parcel visibility, but delayed updates and the absence of a centralized tracking system create uncertainty.</a:t>
            </a:r>
            <a:endParaRPr lang="zh-CN" altLang="en-US" sz="14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4" name="矩形"/>
          <p:cNvSpPr>
            <a:spLocks/>
          </p:cNvSpPr>
          <p:nvPr/>
        </p:nvSpPr>
        <p:spPr>
          <a:xfrm rot="0">
            <a:off x="914400" y="3520440"/>
            <a:ext cx="10241281" cy="20162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73152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Manual shipment tracking</a:t>
            </a:r>
            <a:endParaRPr lang="en-US" altLang="zh-CN" sz="18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Delayed delivery updates</a:t>
            </a:r>
            <a:endParaRPr lang="en-US" altLang="zh-CN" sz="18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Scheduling conflicts for delivery agents</a:t>
            </a:r>
            <a:endParaRPr lang="en-US" altLang="zh-CN" sz="18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Lack of automated notifications</a:t>
            </a:r>
            <a:endParaRPr lang="en-US" altLang="zh-CN" sz="18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Limited performance analytics</a:t>
            </a:r>
            <a:endParaRPr lang="zh-CN" altLang="en-US" sz="18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2089428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"/>
          <p:cNvSpPr>
            <a:spLocks/>
          </p:cNvSpPr>
          <p:nvPr/>
        </p:nvSpPr>
        <p:spPr>
          <a:xfrm rot="0">
            <a:off x="0" y="0"/>
            <a:ext cx="12191694" cy="713232"/>
          </a:xfrm>
          <a:prstGeom prst="rect"/>
          <a:solidFill>
            <a:srgbClr val="172F4D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6" name="矩形"/>
          <p:cNvSpPr>
            <a:spLocks/>
          </p:cNvSpPr>
          <p:nvPr/>
        </p:nvSpPr>
        <p:spPr>
          <a:xfrm rot="0">
            <a:off x="502919" y="128015"/>
            <a:ext cx="3737990" cy="5010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0" i="0" u="none" strike="noStrike" kern="1200" cap="none" spc="0" baseline="0">
                <a:solidFill>
                  <a:srgbClr val="FFFFFF"/>
                </a:solidFill>
                <a:latin typeface="Aptos Display" pitchFamily="0" charset="0"/>
                <a:ea typeface="宋体" pitchFamily="0" charset="0"/>
                <a:cs typeface="Calibri" pitchFamily="0" charset="0"/>
              </a:rPr>
              <a:t>3. Ideation &amp; Solution Selection</a:t>
            </a:r>
            <a:endParaRPr lang="zh-CN" altLang="en-US" sz="2700" b="0" i="0" u="none" strike="noStrike" kern="1200" cap="none" spc="0" baseline="0">
              <a:solidFill>
                <a:srgbClr val="FFFFFF"/>
              </a:solidFill>
              <a:latin typeface="Aptos Display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7" name="矩形"/>
          <p:cNvSpPr>
            <a:spLocks/>
          </p:cNvSpPr>
          <p:nvPr/>
        </p:nvSpPr>
        <p:spPr>
          <a:xfrm rot="0">
            <a:off x="502919" y="6510528"/>
            <a:ext cx="2485262" cy="21526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5F6C7A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Courier Management System  |  Salesforce Project     4/15</a:t>
            </a:r>
            <a:endParaRPr lang="zh-CN" altLang="en-US" sz="900" b="0" i="0" u="none" strike="noStrike" kern="1200" cap="none" spc="0" baseline="0">
              <a:solidFill>
                <a:srgbClr val="5F6C7A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8" name="圆角矩形"/>
          <p:cNvSpPr>
            <a:spLocks/>
          </p:cNvSpPr>
          <p:nvPr/>
        </p:nvSpPr>
        <p:spPr>
          <a:xfrm rot="0">
            <a:off x="685800" y="1143000"/>
            <a:ext cx="2468880" cy="1828800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D7E0E9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9" name="矩形"/>
          <p:cNvSpPr>
            <a:spLocks/>
          </p:cNvSpPr>
          <p:nvPr/>
        </p:nvSpPr>
        <p:spPr>
          <a:xfrm rot="0">
            <a:off x="685800" y="1143000"/>
            <a:ext cx="82295" cy="1828800"/>
          </a:xfrm>
          <a:prstGeom prst="rect"/>
          <a:solidFill>
            <a:srgbClr val="2A68A8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0" name="矩形"/>
          <p:cNvSpPr>
            <a:spLocks/>
          </p:cNvSpPr>
          <p:nvPr/>
        </p:nvSpPr>
        <p:spPr>
          <a:xfrm rot="0">
            <a:off x="914400" y="1307592"/>
            <a:ext cx="1522856" cy="3581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Manual Registers</a:t>
            </a:r>
            <a:endParaRPr lang="zh-CN" altLang="en-US" sz="18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1" name="矩形"/>
          <p:cNvSpPr>
            <a:spLocks/>
          </p:cNvSpPr>
          <p:nvPr/>
        </p:nvSpPr>
        <p:spPr>
          <a:xfrm rot="0">
            <a:off x="914400" y="1801368"/>
            <a:ext cx="2057400" cy="7200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Traditional record keeping with high effort and limited visibility.</a:t>
            </a:r>
            <a:endParaRPr lang="zh-CN" altLang="en-US" sz="14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2" name="圆角矩形"/>
          <p:cNvSpPr>
            <a:spLocks/>
          </p:cNvSpPr>
          <p:nvPr/>
        </p:nvSpPr>
        <p:spPr>
          <a:xfrm rot="0">
            <a:off x="3337560" y="1143000"/>
            <a:ext cx="2468880" cy="1828800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D7E0E9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3" name="矩形"/>
          <p:cNvSpPr>
            <a:spLocks/>
          </p:cNvSpPr>
          <p:nvPr/>
        </p:nvSpPr>
        <p:spPr>
          <a:xfrm rot="0">
            <a:off x="3337560" y="1143000"/>
            <a:ext cx="82296" cy="1828800"/>
          </a:xfrm>
          <a:prstGeom prst="rect"/>
          <a:solidFill>
            <a:srgbClr val="2A68A8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4" name="矩形"/>
          <p:cNvSpPr>
            <a:spLocks/>
          </p:cNvSpPr>
          <p:nvPr/>
        </p:nvSpPr>
        <p:spPr>
          <a:xfrm rot="0">
            <a:off x="3566160" y="1307592"/>
            <a:ext cx="1166241" cy="3581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Spreadsheets</a:t>
            </a:r>
            <a:endParaRPr lang="zh-CN" altLang="en-US" sz="18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5" name="矩形"/>
          <p:cNvSpPr>
            <a:spLocks/>
          </p:cNvSpPr>
          <p:nvPr/>
        </p:nvSpPr>
        <p:spPr>
          <a:xfrm rot="0">
            <a:off x="3566160" y="1801368"/>
            <a:ext cx="2057400" cy="5105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Better organization, but still fragmented and manual.</a:t>
            </a:r>
            <a:endParaRPr lang="zh-CN" altLang="en-US" sz="14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6" name="圆角矩形"/>
          <p:cNvSpPr>
            <a:spLocks/>
          </p:cNvSpPr>
          <p:nvPr/>
        </p:nvSpPr>
        <p:spPr>
          <a:xfrm rot="0">
            <a:off x="5989320" y="1143000"/>
            <a:ext cx="2468880" cy="1828800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D7E0E9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7" name="矩形"/>
          <p:cNvSpPr>
            <a:spLocks/>
          </p:cNvSpPr>
          <p:nvPr/>
        </p:nvSpPr>
        <p:spPr>
          <a:xfrm rot="0">
            <a:off x="5989320" y="1143000"/>
            <a:ext cx="82296" cy="1828800"/>
          </a:xfrm>
          <a:prstGeom prst="rect"/>
          <a:solidFill>
            <a:srgbClr val="2A68A8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8" name="矩形"/>
          <p:cNvSpPr>
            <a:spLocks/>
          </p:cNvSpPr>
          <p:nvPr/>
        </p:nvSpPr>
        <p:spPr>
          <a:xfrm rot="0">
            <a:off x="6217920" y="1307592"/>
            <a:ext cx="1541144" cy="3581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Standalone Portal</a:t>
            </a:r>
            <a:endParaRPr lang="zh-CN" altLang="en-US" sz="18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9" name="矩形"/>
          <p:cNvSpPr>
            <a:spLocks/>
          </p:cNvSpPr>
          <p:nvPr/>
        </p:nvSpPr>
        <p:spPr>
          <a:xfrm rot="0">
            <a:off x="6217920" y="1801368"/>
            <a:ext cx="2057400" cy="5105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Centralized interface, but limited platform integration.</a:t>
            </a:r>
            <a:endParaRPr lang="zh-CN" altLang="en-US" sz="14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0" name="圆角矩形"/>
          <p:cNvSpPr>
            <a:spLocks/>
          </p:cNvSpPr>
          <p:nvPr/>
        </p:nvSpPr>
        <p:spPr>
          <a:xfrm rot="0">
            <a:off x="8641080" y="1143000"/>
            <a:ext cx="2468879" cy="1828800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D7E0E9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1" name="矩形"/>
          <p:cNvSpPr>
            <a:spLocks/>
          </p:cNvSpPr>
          <p:nvPr/>
        </p:nvSpPr>
        <p:spPr>
          <a:xfrm rot="0">
            <a:off x="8641080" y="1143000"/>
            <a:ext cx="82296" cy="1828800"/>
          </a:xfrm>
          <a:prstGeom prst="rect"/>
          <a:solidFill>
            <a:srgbClr val="4393C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2" name="矩形"/>
          <p:cNvSpPr>
            <a:spLocks/>
          </p:cNvSpPr>
          <p:nvPr/>
        </p:nvSpPr>
        <p:spPr>
          <a:xfrm rot="0">
            <a:off x="8869680" y="1307592"/>
            <a:ext cx="1435988" cy="3581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Salesforce CRM</a:t>
            </a:r>
            <a:endParaRPr lang="zh-CN" altLang="en-US" sz="18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3" name="矩形"/>
          <p:cNvSpPr>
            <a:spLocks/>
          </p:cNvSpPr>
          <p:nvPr/>
        </p:nvSpPr>
        <p:spPr>
          <a:xfrm rot="0">
            <a:off x="8869680" y="1801368"/>
            <a:ext cx="2057399" cy="5105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Automation, scalability and real-time visibility.</a:t>
            </a:r>
            <a:endParaRPr lang="zh-CN" altLang="en-US" sz="14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4" name="圆角矩形"/>
          <p:cNvSpPr>
            <a:spLocks/>
          </p:cNvSpPr>
          <p:nvPr/>
        </p:nvSpPr>
        <p:spPr>
          <a:xfrm rot="0">
            <a:off x="2011679" y="3886200"/>
            <a:ext cx="8138160" cy="1371600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D7E0E9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5" name="矩形"/>
          <p:cNvSpPr>
            <a:spLocks/>
          </p:cNvSpPr>
          <p:nvPr/>
        </p:nvSpPr>
        <p:spPr>
          <a:xfrm rot="0">
            <a:off x="2011679" y="3886200"/>
            <a:ext cx="82296" cy="1371600"/>
          </a:xfrm>
          <a:prstGeom prst="rect"/>
          <a:solidFill>
            <a:srgbClr val="4393C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6" name="矩形"/>
          <p:cNvSpPr>
            <a:spLocks/>
          </p:cNvSpPr>
          <p:nvPr/>
        </p:nvSpPr>
        <p:spPr>
          <a:xfrm rot="0">
            <a:off x="2240280" y="4050791"/>
            <a:ext cx="1321689" cy="3581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Final Selection</a:t>
            </a:r>
            <a:endParaRPr lang="zh-CN" altLang="en-US" sz="18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7" name="矩形"/>
          <p:cNvSpPr>
            <a:spLocks/>
          </p:cNvSpPr>
          <p:nvPr/>
        </p:nvSpPr>
        <p:spPr>
          <a:xfrm rot="0">
            <a:off x="2240280" y="4544568"/>
            <a:ext cx="7726679" cy="3009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Salesforce CRM was selected as the project platform because it supports automation, scalability and real-time visibility.</a:t>
            </a:r>
            <a:endParaRPr lang="zh-CN" altLang="en-US" sz="14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335150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"/>
          <p:cNvSpPr>
            <a:spLocks/>
          </p:cNvSpPr>
          <p:nvPr/>
        </p:nvSpPr>
        <p:spPr>
          <a:xfrm rot="0">
            <a:off x="0" y="0"/>
            <a:ext cx="12191694" cy="713232"/>
          </a:xfrm>
          <a:prstGeom prst="rect"/>
          <a:solidFill>
            <a:srgbClr val="172F4D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9" name="矩形"/>
          <p:cNvSpPr>
            <a:spLocks/>
          </p:cNvSpPr>
          <p:nvPr/>
        </p:nvSpPr>
        <p:spPr>
          <a:xfrm rot="0">
            <a:off x="502919" y="128015"/>
            <a:ext cx="4554093" cy="5010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0" i="0" u="none" strike="noStrike" kern="1200" cap="none" spc="0" baseline="0">
                <a:solidFill>
                  <a:srgbClr val="FFFFFF"/>
                </a:solidFill>
                <a:latin typeface="Aptos Display" pitchFamily="0" charset="0"/>
                <a:ea typeface="宋体" pitchFamily="0" charset="0"/>
                <a:cs typeface="Calibri" pitchFamily="0" charset="0"/>
              </a:rPr>
              <a:t>4. Requirements &amp; Customer Journey</a:t>
            </a:r>
            <a:endParaRPr lang="zh-CN" altLang="en-US" sz="2700" b="0" i="0" u="none" strike="noStrike" kern="1200" cap="none" spc="0" baseline="0">
              <a:solidFill>
                <a:srgbClr val="FFFFFF"/>
              </a:solidFill>
              <a:latin typeface="Aptos Display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0" name="矩形"/>
          <p:cNvSpPr>
            <a:spLocks/>
          </p:cNvSpPr>
          <p:nvPr/>
        </p:nvSpPr>
        <p:spPr>
          <a:xfrm rot="0">
            <a:off x="502919" y="6510528"/>
            <a:ext cx="2485262" cy="21526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5F6C7A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Courier Management System  |  Salesforce Project     5/15</a:t>
            </a:r>
            <a:endParaRPr lang="zh-CN" altLang="en-US" sz="900" b="0" i="0" u="none" strike="noStrike" kern="1200" cap="none" spc="0" baseline="0">
              <a:solidFill>
                <a:srgbClr val="5F6C7A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1" name="圆角矩形"/>
          <p:cNvSpPr>
            <a:spLocks/>
          </p:cNvSpPr>
          <p:nvPr/>
        </p:nvSpPr>
        <p:spPr>
          <a:xfrm rot="0">
            <a:off x="685800" y="1097280"/>
            <a:ext cx="5257800" cy="4480559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D7E0E9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62" name="矩形"/>
          <p:cNvSpPr>
            <a:spLocks/>
          </p:cNvSpPr>
          <p:nvPr/>
        </p:nvSpPr>
        <p:spPr>
          <a:xfrm rot="0">
            <a:off x="685800" y="1097280"/>
            <a:ext cx="82295" cy="4480559"/>
          </a:xfrm>
          <a:prstGeom prst="rect"/>
          <a:solidFill>
            <a:srgbClr val="2A68A8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63" name="矩形"/>
          <p:cNvSpPr>
            <a:spLocks/>
          </p:cNvSpPr>
          <p:nvPr/>
        </p:nvSpPr>
        <p:spPr>
          <a:xfrm rot="0">
            <a:off x="914400" y="1261872"/>
            <a:ext cx="2094357" cy="3581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Functional Requirements</a:t>
            </a:r>
            <a:endParaRPr lang="zh-CN" altLang="en-US" sz="18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4" name="矩形"/>
          <p:cNvSpPr>
            <a:spLocks/>
          </p:cNvSpPr>
          <p:nvPr/>
        </p:nvSpPr>
        <p:spPr>
          <a:xfrm rot="0">
            <a:off x="914400" y="1755648"/>
            <a:ext cx="4846320" cy="13487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FR-1 Customer management</a:t>
            </a:r>
            <a:br>
              <a:rPr lang="zh-CN" altLang="en-US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FR-2 Shipment booking</a:t>
            </a:r>
            <a:br>
              <a:rPr lang="zh-CN" altLang="en-US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FR-3 Delivery agent assignment</a:t>
            </a:r>
            <a:br>
              <a:rPr lang="zh-CN" altLang="en-US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FR-4 Real-time status updates</a:t>
            </a:r>
            <a:br>
              <a:rPr lang="zh-CN" altLang="en-US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FR-5 Invoice generation</a:t>
            </a:r>
            <a:br>
              <a:rPr lang="zh-CN" altLang="en-US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FR-6 Reports &amp; dashboards</a:t>
            </a:r>
            <a:endParaRPr lang="zh-CN" altLang="en-US" sz="14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5" name="圆角矩形"/>
          <p:cNvSpPr>
            <a:spLocks/>
          </p:cNvSpPr>
          <p:nvPr/>
        </p:nvSpPr>
        <p:spPr>
          <a:xfrm rot="0">
            <a:off x="6217920" y="1097280"/>
            <a:ext cx="5257800" cy="4480559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D7E0E9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66" name="矩形"/>
          <p:cNvSpPr>
            <a:spLocks/>
          </p:cNvSpPr>
          <p:nvPr/>
        </p:nvSpPr>
        <p:spPr>
          <a:xfrm rot="0">
            <a:off x="6217920" y="1097280"/>
            <a:ext cx="82296" cy="4480559"/>
          </a:xfrm>
          <a:prstGeom prst="rect"/>
          <a:solidFill>
            <a:srgbClr val="4393C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67" name="矩形"/>
          <p:cNvSpPr>
            <a:spLocks/>
          </p:cNvSpPr>
          <p:nvPr/>
        </p:nvSpPr>
        <p:spPr>
          <a:xfrm rot="0">
            <a:off x="6446520" y="1261872"/>
            <a:ext cx="2469261" cy="3581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Non-Functional Requirements</a:t>
            </a:r>
            <a:endParaRPr lang="zh-CN" altLang="en-US" sz="18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8" name="矩形"/>
          <p:cNvSpPr>
            <a:spLocks/>
          </p:cNvSpPr>
          <p:nvPr/>
        </p:nvSpPr>
        <p:spPr>
          <a:xfrm rot="0">
            <a:off x="6446520" y="1755648"/>
            <a:ext cx="4846320" cy="13487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Usability – Easy Lightning interface</a:t>
            </a:r>
            <a:br>
              <a:rPr lang="zh-CN" altLang="en-US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Security – Role-based access control</a:t>
            </a:r>
            <a:br>
              <a:rPr lang="zh-CN" altLang="en-US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Reliability – Error-free automation</a:t>
            </a:r>
            <a:br>
              <a:rPr lang="zh-CN" altLang="en-US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Performance – Fast tracking updates</a:t>
            </a:r>
            <a:br>
              <a:rPr lang="zh-CN" altLang="en-US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Availability – 24/7 cloud access</a:t>
            </a:r>
            <a:br>
              <a:rPr lang="zh-CN" altLang="en-US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Scalability – Supports growing branches</a:t>
            </a:r>
            <a:endParaRPr lang="zh-CN" altLang="en-US" sz="14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9" name="矩形"/>
          <p:cNvSpPr>
            <a:spLocks/>
          </p:cNvSpPr>
          <p:nvPr/>
        </p:nvSpPr>
        <p:spPr>
          <a:xfrm rot="0">
            <a:off x="914400" y="5760720"/>
            <a:ext cx="7411085" cy="3009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Journey: Booking → Shipment Creation → Agent Assignment → Transit → Delivery Update → Invoice → Reporting</a:t>
            </a:r>
            <a:endParaRPr lang="zh-CN" altLang="en-US" sz="14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387482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矩形"/>
          <p:cNvSpPr>
            <a:spLocks/>
          </p:cNvSpPr>
          <p:nvPr/>
        </p:nvSpPr>
        <p:spPr>
          <a:xfrm rot="0">
            <a:off x="0" y="0"/>
            <a:ext cx="12191694" cy="713232"/>
          </a:xfrm>
          <a:prstGeom prst="rect"/>
          <a:solidFill>
            <a:srgbClr val="172F4D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71" name="矩形"/>
          <p:cNvSpPr>
            <a:spLocks/>
          </p:cNvSpPr>
          <p:nvPr/>
        </p:nvSpPr>
        <p:spPr>
          <a:xfrm rot="0">
            <a:off x="502919" y="128015"/>
            <a:ext cx="2969895" cy="5010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0" i="0" u="none" strike="noStrike" kern="1200" cap="none" spc="0" baseline="0">
                <a:solidFill>
                  <a:srgbClr val="FFFFFF"/>
                </a:solidFill>
                <a:latin typeface="Aptos Display" pitchFamily="0" charset="0"/>
                <a:ea typeface="宋体" pitchFamily="0" charset="0"/>
                <a:cs typeface="Calibri" pitchFamily="0" charset="0"/>
              </a:rPr>
              <a:t>5. Solution Architecture</a:t>
            </a:r>
            <a:endParaRPr lang="zh-CN" altLang="en-US" sz="2700" b="0" i="0" u="none" strike="noStrike" kern="1200" cap="none" spc="0" baseline="0">
              <a:solidFill>
                <a:srgbClr val="FFFFFF"/>
              </a:solidFill>
              <a:latin typeface="Aptos Display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72" name="矩形"/>
          <p:cNvSpPr>
            <a:spLocks/>
          </p:cNvSpPr>
          <p:nvPr/>
        </p:nvSpPr>
        <p:spPr>
          <a:xfrm rot="0">
            <a:off x="502919" y="6510528"/>
            <a:ext cx="2485262" cy="21526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5F6C7A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Courier Management System  |  Salesforce Project     6/15</a:t>
            </a:r>
            <a:endParaRPr lang="zh-CN" altLang="en-US" sz="900" b="0" i="0" u="none" strike="noStrike" kern="1200" cap="none" spc="0" baseline="0">
              <a:solidFill>
                <a:srgbClr val="5F6C7A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73" name="圆角矩形"/>
          <p:cNvSpPr>
            <a:spLocks/>
          </p:cNvSpPr>
          <p:nvPr/>
        </p:nvSpPr>
        <p:spPr>
          <a:xfrm rot="0">
            <a:off x="594360" y="1920240"/>
            <a:ext cx="1508759" cy="914400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2A68A8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Customer</a:t>
            </a:r>
            <a:endParaRPr lang="zh-CN" altLang="en-US" sz="13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74" name="右箭头"/>
          <p:cNvSpPr>
            <a:spLocks/>
          </p:cNvSpPr>
          <p:nvPr/>
        </p:nvSpPr>
        <p:spPr>
          <a:xfrm rot="0">
            <a:off x="2176272" y="2212848"/>
            <a:ext cx="411479" cy="320040"/>
          </a:xfrm>
          <a:prstGeom prst="rightArrow">
            <a:avLst>
              <a:gd name="adj1" fmla="val 50000"/>
              <a:gd name="adj2" fmla="val 48749"/>
            </a:avLst>
          </a:prstGeom>
          <a:solidFill>
            <a:srgbClr val="4393C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75" name="圆角矩形"/>
          <p:cNvSpPr>
            <a:spLocks/>
          </p:cNvSpPr>
          <p:nvPr/>
        </p:nvSpPr>
        <p:spPr>
          <a:xfrm rot="0">
            <a:off x="2514600" y="1920240"/>
            <a:ext cx="1508759" cy="914400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2A68A8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Shipment</a:t>
            </a:r>
            <a:endParaRPr lang="zh-CN" altLang="en-US" sz="13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76" name="右箭头"/>
          <p:cNvSpPr>
            <a:spLocks/>
          </p:cNvSpPr>
          <p:nvPr/>
        </p:nvSpPr>
        <p:spPr>
          <a:xfrm rot="0">
            <a:off x="4096511" y="2212848"/>
            <a:ext cx="411479" cy="320040"/>
          </a:xfrm>
          <a:prstGeom prst="rightArrow">
            <a:avLst>
              <a:gd name="adj1" fmla="val 50000"/>
              <a:gd name="adj2" fmla="val 48749"/>
            </a:avLst>
          </a:prstGeom>
          <a:solidFill>
            <a:srgbClr val="4393C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77" name="圆角矩形"/>
          <p:cNvSpPr>
            <a:spLocks/>
          </p:cNvSpPr>
          <p:nvPr/>
        </p:nvSpPr>
        <p:spPr>
          <a:xfrm rot="0">
            <a:off x="4572000" y="1920240"/>
            <a:ext cx="1508759" cy="914400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2A68A8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Delivery Agent</a:t>
            </a:r>
            <a:endParaRPr lang="zh-CN" altLang="en-US" sz="13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78" name="右箭头"/>
          <p:cNvSpPr>
            <a:spLocks/>
          </p:cNvSpPr>
          <p:nvPr/>
        </p:nvSpPr>
        <p:spPr>
          <a:xfrm rot="0">
            <a:off x="6153912" y="2212848"/>
            <a:ext cx="411480" cy="320040"/>
          </a:xfrm>
          <a:prstGeom prst="rightArrow">
            <a:avLst>
              <a:gd name="adj1" fmla="val 50000"/>
              <a:gd name="adj2" fmla="val 48749"/>
            </a:avLst>
          </a:prstGeom>
          <a:solidFill>
            <a:srgbClr val="4393C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79" name="圆角矩形"/>
          <p:cNvSpPr>
            <a:spLocks/>
          </p:cNvSpPr>
          <p:nvPr/>
        </p:nvSpPr>
        <p:spPr>
          <a:xfrm rot="0">
            <a:off x="6629400" y="1920240"/>
            <a:ext cx="1508759" cy="914400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2A68A8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Branch</a:t>
            </a:r>
            <a:endParaRPr lang="zh-CN" altLang="en-US" sz="13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0" name="右箭头"/>
          <p:cNvSpPr>
            <a:spLocks/>
          </p:cNvSpPr>
          <p:nvPr/>
        </p:nvSpPr>
        <p:spPr>
          <a:xfrm rot="0">
            <a:off x="8211312" y="2212848"/>
            <a:ext cx="411480" cy="320040"/>
          </a:xfrm>
          <a:prstGeom prst="rightArrow">
            <a:avLst>
              <a:gd name="adj1" fmla="val 50000"/>
              <a:gd name="adj2" fmla="val 48749"/>
            </a:avLst>
          </a:prstGeom>
          <a:solidFill>
            <a:srgbClr val="4393C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81" name="圆角矩形"/>
          <p:cNvSpPr>
            <a:spLocks/>
          </p:cNvSpPr>
          <p:nvPr/>
        </p:nvSpPr>
        <p:spPr>
          <a:xfrm rot="0">
            <a:off x="8686800" y="1920240"/>
            <a:ext cx="1508759" cy="914400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2A68A8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Delivery Update</a:t>
            </a:r>
            <a:endParaRPr lang="zh-CN" altLang="en-US" sz="13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2" name="右箭头"/>
          <p:cNvSpPr>
            <a:spLocks/>
          </p:cNvSpPr>
          <p:nvPr/>
        </p:nvSpPr>
        <p:spPr>
          <a:xfrm rot="0">
            <a:off x="10268712" y="2212848"/>
            <a:ext cx="411480" cy="320040"/>
          </a:xfrm>
          <a:prstGeom prst="rightArrow">
            <a:avLst>
              <a:gd name="adj1" fmla="val 50000"/>
              <a:gd name="adj2" fmla="val 48749"/>
            </a:avLst>
          </a:prstGeom>
          <a:solidFill>
            <a:srgbClr val="4393C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83" name="圆角矩形"/>
          <p:cNvSpPr>
            <a:spLocks/>
          </p:cNvSpPr>
          <p:nvPr/>
        </p:nvSpPr>
        <p:spPr>
          <a:xfrm rot="0">
            <a:off x="10241281" y="1920240"/>
            <a:ext cx="1280160" cy="914400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2A68A8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Invoice</a:t>
            </a:r>
            <a:endParaRPr lang="zh-CN" altLang="en-US" sz="13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4" name="圆角矩形"/>
          <p:cNvSpPr>
            <a:spLocks/>
          </p:cNvSpPr>
          <p:nvPr/>
        </p:nvSpPr>
        <p:spPr>
          <a:xfrm rot="0">
            <a:off x="1828800" y="3749039"/>
            <a:ext cx="2423160" cy="1143000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D7E0E9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85" name="矩形"/>
          <p:cNvSpPr>
            <a:spLocks/>
          </p:cNvSpPr>
          <p:nvPr/>
        </p:nvSpPr>
        <p:spPr>
          <a:xfrm rot="0">
            <a:off x="1828800" y="3749039"/>
            <a:ext cx="82296" cy="1143000"/>
          </a:xfrm>
          <a:prstGeom prst="rect"/>
          <a:solidFill>
            <a:srgbClr val="2A68A8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86" name="矩形"/>
          <p:cNvSpPr>
            <a:spLocks/>
          </p:cNvSpPr>
          <p:nvPr/>
        </p:nvSpPr>
        <p:spPr>
          <a:xfrm rot="0">
            <a:off x="2057400" y="3913631"/>
            <a:ext cx="1088516" cy="3581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Automation</a:t>
            </a:r>
            <a:endParaRPr lang="zh-CN" altLang="en-US" sz="18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7" name="矩形"/>
          <p:cNvSpPr>
            <a:spLocks/>
          </p:cNvSpPr>
          <p:nvPr/>
        </p:nvSpPr>
        <p:spPr>
          <a:xfrm rot="0">
            <a:off x="2057400" y="4407407"/>
            <a:ext cx="2011679" cy="5105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Salesforce Flows + Validation Rules</a:t>
            </a:r>
            <a:endParaRPr lang="zh-CN" altLang="en-US" sz="14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8" name="圆角矩形"/>
          <p:cNvSpPr>
            <a:spLocks/>
          </p:cNvSpPr>
          <p:nvPr/>
        </p:nvSpPr>
        <p:spPr>
          <a:xfrm rot="0">
            <a:off x="4892040" y="3749039"/>
            <a:ext cx="2423160" cy="1143000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D7E0E9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89" name="矩形"/>
          <p:cNvSpPr>
            <a:spLocks/>
          </p:cNvSpPr>
          <p:nvPr/>
        </p:nvSpPr>
        <p:spPr>
          <a:xfrm rot="0">
            <a:off x="4892040" y="3749039"/>
            <a:ext cx="82296" cy="1143000"/>
          </a:xfrm>
          <a:prstGeom prst="rect"/>
          <a:solidFill>
            <a:srgbClr val="4393C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90" name="矩形"/>
          <p:cNvSpPr>
            <a:spLocks/>
          </p:cNvSpPr>
          <p:nvPr/>
        </p:nvSpPr>
        <p:spPr>
          <a:xfrm rot="0">
            <a:off x="5120640" y="3913631"/>
            <a:ext cx="837057" cy="3581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Security</a:t>
            </a:r>
            <a:endParaRPr lang="zh-CN" altLang="en-US" sz="18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1" name="矩形"/>
          <p:cNvSpPr>
            <a:spLocks/>
          </p:cNvSpPr>
          <p:nvPr/>
        </p:nvSpPr>
        <p:spPr>
          <a:xfrm rot="0">
            <a:off x="5120640" y="4407407"/>
            <a:ext cx="2011679" cy="3009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Profiles + Roles</a:t>
            </a:r>
            <a:endParaRPr lang="zh-CN" altLang="en-US" sz="14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2" name="圆角矩形"/>
          <p:cNvSpPr>
            <a:spLocks/>
          </p:cNvSpPr>
          <p:nvPr/>
        </p:nvSpPr>
        <p:spPr>
          <a:xfrm rot="0">
            <a:off x="7955279" y="3749039"/>
            <a:ext cx="2423160" cy="1143000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D7E0E9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93" name="矩形"/>
          <p:cNvSpPr>
            <a:spLocks/>
          </p:cNvSpPr>
          <p:nvPr/>
        </p:nvSpPr>
        <p:spPr>
          <a:xfrm rot="0">
            <a:off x="7955279" y="3749039"/>
            <a:ext cx="82296" cy="1143000"/>
          </a:xfrm>
          <a:prstGeom prst="rect"/>
          <a:solidFill>
            <a:srgbClr val="2A68A8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94" name="矩形"/>
          <p:cNvSpPr>
            <a:spLocks/>
          </p:cNvSpPr>
          <p:nvPr/>
        </p:nvSpPr>
        <p:spPr>
          <a:xfrm rot="0">
            <a:off x="8183879" y="3913631"/>
            <a:ext cx="960501" cy="3581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Reporting</a:t>
            </a:r>
            <a:endParaRPr lang="zh-CN" altLang="en-US" sz="18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5" name="矩形"/>
          <p:cNvSpPr>
            <a:spLocks/>
          </p:cNvSpPr>
          <p:nvPr/>
        </p:nvSpPr>
        <p:spPr>
          <a:xfrm rot="0">
            <a:off x="8183879" y="4407407"/>
            <a:ext cx="2011679" cy="3009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Reports + Dashboards</a:t>
            </a:r>
            <a:endParaRPr lang="zh-CN" altLang="en-US" sz="14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564635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矩形"/>
          <p:cNvSpPr>
            <a:spLocks/>
          </p:cNvSpPr>
          <p:nvPr/>
        </p:nvSpPr>
        <p:spPr>
          <a:xfrm rot="0">
            <a:off x="0" y="0"/>
            <a:ext cx="12191694" cy="713232"/>
          </a:xfrm>
          <a:prstGeom prst="rect"/>
          <a:solidFill>
            <a:srgbClr val="172F4D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97" name="矩形"/>
          <p:cNvSpPr>
            <a:spLocks/>
          </p:cNvSpPr>
          <p:nvPr/>
        </p:nvSpPr>
        <p:spPr>
          <a:xfrm rot="0">
            <a:off x="502919" y="128015"/>
            <a:ext cx="3079623" cy="5010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0" i="0" u="none" strike="noStrike" kern="1200" cap="none" spc="0" baseline="0">
                <a:solidFill>
                  <a:srgbClr val="FFFFFF"/>
                </a:solidFill>
                <a:latin typeface="Aptos Display" pitchFamily="0" charset="0"/>
                <a:ea typeface="宋体" pitchFamily="0" charset="0"/>
                <a:cs typeface="Calibri" pitchFamily="0" charset="0"/>
              </a:rPr>
              <a:t>6. Salesforce Data Model</a:t>
            </a:r>
            <a:endParaRPr lang="zh-CN" altLang="en-US" sz="2700" b="0" i="0" u="none" strike="noStrike" kern="1200" cap="none" spc="0" baseline="0">
              <a:solidFill>
                <a:srgbClr val="FFFFFF"/>
              </a:solidFill>
              <a:latin typeface="Aptos Display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8" name="矩形"/>
          <p:cNvSpPr>
            <a:spLocks/>
          </p:cNvSpPr>
          <p:nvPr/>
        </p:nvSpPr>
        <p:spPr>
          <a:xfrm rot="0">
            <a:off x="502919" y="6510528"/>
            <a:ext cx="2485262" cy="21526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5F6C7A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Courier Management System  |  Salesforce Project     7/15</a:t>
            </a:r>
            <a:endParaRPr lang="zh-CN" altLang="en-US" sz="900" b="0" i="0" u="none" strike="noStrike" kern="1200" cap="none" spc="0" baseline="0">
              <a:solidFill>
                <a:srgbClr val="5F6C7A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9" name="矩形"/>
          <p:cNvSpPr>
            <a:spLocks/>
          </p:cNvSpPr>
          <p:nvPr/>
        </p:nvSpPr>
        <p:spPr>
          <a:xfrm rot="0">
            <a:off x="685800" y="1097280"/>
            <a:ext cx="5486400" cy="263537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73152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Customer__c – customer personal and contact information</a:t>
            </a:r>
            <a:endParaRPr lang="en-US" altLang="zh-CN" sz="17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Shipment__c – parcel details, source, destination and tracking information</a:t>
            </a:r>
            <a:endParaRPr lang="en-US" altLang="zh-CN" sz="17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Delivery_Agent__c – delivery agent profile and branch details</a:t>
            </a:r>
            <a:endParaRPr lang="en-US" altLang="zh-CN" sz="17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Branch__c – courier branch information</a:t>
            </a:r>
            <a:endParaRPr lang="en-US" altLang="zh-CN" sz="17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Delivery_Update__c – status updates for shipments</a:t>
            </a:r>
            <a:endParaRPr lang="en-US" altLang="zh-CN" sz="17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Invoice__c – billing details for delivered shipments</a:t>
            </a:r>
            <a:endParaRPr lang="zh-CN" altLang="en-US" sz="17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00" name="圆角矩形"/>
          <p:cNvSpPr>
            <a:spLocks/>
          </p:cNvSpPr>
          <p:nvPr/>
        </p:nvSpPr>
        <p:spPr>
          <a:xfrm rot="0">
            <a:off x="6400800" y="1188720"/>
            <a:ext cx="4937760" cy="1051560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D7E0E9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01" name="矩形"/>
          <p:cNvSpPr>
            <a:spLocks/>
          </p:cNvSpPr>
          <p:nvPr/>
        </p:nvSpPr>
        <p:spPr>
          <a:xfrm rot="0">
            <a:off x="6400800" y="1188720"/>
            <a:ext cx="82296" cy="1051560"/>
          </a:xfrm>
          <a:prstGeom prst="rect"/>
          <a:solidFill>
            <a:srgbClr val="2A68A8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02" name="矩形"/>
          <p:cNvSpPr>
            <a:spLocks/>
          </p:cNvSpPr>
          <p:nvPr/>
        </p:nvSpPr>
        <p:spPr>
          <a:xfrm rot="0">
            <a:off x="6629400" y="1353312"/>
            <a:ext cx="1554860" cy="3581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Key Relationships</a:t>
            </a:r>
            <a:endParaRPr lang="zh-CN" altLang="en-US" sz="18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03" name="矩形"/>
          <p:cNvSpPr>
            <a:spLocks/>
          </p:cNvSpPr>
          <p:nvPr/>
        </p:nvSpPr>
        <p:spPr>
          <a:xfrm rot="0">
            <a:off x="6629400" y="1847088"/>
            <a:ext cx="4526280" cy="3009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Customer → Shipment (Lookup)</a:t>
            </a:r>
            <a:endParaRPr lang="zh-CN" altLang="en-US" sz="14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04" name="圆角矩形"/>
          <p:cNvSpPr>
            <a:spLocks/>
          </p:cNvSpPr>
          <p:nvPr/>
        </p:nvSpPr>
        <p:spPr>
          <a:xfrm rot="0">
            <a:off x="6400800" y="2423160"/>
            <a:ext cx="4937760" cy="1051560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D7E0E9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05" name="矩形"/>
          <p:cNvSpPr>
            <a:spLocks/>
          </p:cNvSpPr>
          <p:nvPr/>
        </p:nvSpPr>
        <p:spPr>
          <a:xfrm rot="0">
            <a:off x="6400800" y="2423160"/>
            <a:ext cx="82296" cy="1051560"/>
          </a:xfrm>
          <a:prstGeom prst="rect"/>
          <a:solidFill>
            <a:srgbClr val="4393C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06" name="矩形"/>
          <p:cNvSpPr>
            <a:spLocks/>
          </p:cNvSpPr>
          <p:nvPr/>
        </p:nvSpPr>
        <p:spPr>
          <a:xfrm rot="0">
            <a:off x="6629400" y="2587752"/>
            <a:ext cx="1065657" cy="3581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Assignment</a:t>
            </a:r>
            <a:endParaRPr lang="zh-CN" altLang="en-US" sz="18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07" name="矩形"/>
          <p:cNvSpPr>
            <a:spLocks/>
          </p:cNvSpPr>
          <p:nvPr/>
        </p:nvSpPr>
        <p:spPr>
          <a:xfrm rot="0">
            <a:off x="6629400" y="3081528"/>
            <a:ext cx="4526280" cy="3009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Shipment → Delivery Agent (Lookup)</a:t>
            </a:r>
            <a:endParaRPr lang="zh-CN" altLang="en-US" sz="14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08" name="圆角矩形"/>
          <p:cNvSpPr>
            <a:spLocks/>
          </p:cNvSpPr>
          <p:nvPr/>
        </p:nvSpPr>
        <p:spPr>
          <a:xfrm rot="0">
            <a:off x="6400800" y="3657600"/>
            <a:ext cx="4937760" cy="1051559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D7E0E9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09" name="矩形"/>
          <p:cNvSpPr>
            <a:spLocks/>
          </p:cNvSpPr>
          <p:nvPr/>
        </p:nvSpPr>
        <p:spPr>
          <a:xfrm rot="0">
            <a:off x="6400800" y="3657600"/>
            <a:ext cx="82296" cy="1051559"/>
          </a:xfrm>
          <a:prstGeom prst="rect"/>
          <a:solidFill>
            <a:srgbClr val="2A68A8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10" name="矩形"/>
          <p:cNvSpPr>
            <a:spLocks/>
          </p:cNvSpPr>
          <p:nvPr/>
        </p:nvSpPr>
        <p:spPr>
          <a:xfrm rot="0">
            <a:off x="6629400" y="3822191"/>
            <a:ext cx="754761" cy="3581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Branch</a:t>
            </a:r>
            <a:endParaRPr lang="zh-CN" altLang="en-US" sz="18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11" name="矩形"/>
          <p:cNvSpPr>
            <a:spLocks/>
          </p:cNvSpPr>
          <p:nvPr/>
        </p:nvSpPr>
        <p:spPr>
          <a:xfrm rot="0">
            <a:off x="6629400" y="4315968"/>
            <a:ext cx="4526280" cy="3009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Delivery Agent → Branch (Lookup)</a:t>
            </a:r>
            <a:endParaRPr lang="zh-CN" altLang="en-US" sz="14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12" name="圆角矩形"/>
          <p:cNvSpPr>
            <a:spLocks/>
          </p:cNvSpPr>
          <p:nvPr/>
        </p:nvSpPr>
        <p:spPr>
          <a:xfrm rot="0">
            <a:off x="6400800" y="4892040"/>
            <a:ext cx="4937760" cy="1051559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D7E0E9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13" name="矩形"/>
          <p:cNvSpPr>
            <a:spLocks/>
          </p:cNvSpPr>
          <p:nvPr/>
        </p:nvSpPr>
        <p:spPr>
          <a:xfrm rot="0">
            <a:off x="6400800" y="4892040"/>
            <a:ext cx="82296" cy="1051559"/>
          </a:xfrm>
          <a:prstGeom prst="rect"/>
          <a:solidFill>
            <a:srgbClr val="4393C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14" name="矩形"/>
          <p:cNvSpPr>
            <a:spLocks/>
          </p:cNvSpPr>
          <p:nvPr/>
        </p:nvSpPr>
        <p:spPr>
          <a:xfrm rot="0">
            <a:off x="6629400" y="5056631"/>
            <a:ext cx="1669161" cy="3581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Tracking &amp; Billing</a:t>
            </a:r>
            <a:endParaRPr lang="zh-CN" altLang="en-US" sz="18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15" name="矩形"/>
          <p:cNvSpPr>
            <a:spLocks/>
          </p:cNvSpPr>
          <p:nvPr/>
        </p:nvSpPr>
        <p:spPr>
          <a:xfrm rot="0">
            <a:off x="6629400" y="5550406"/>
            <a:ext cx="4526280" cy="5105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Delivery Update → Shipment (Master-Detail)</a:t>
            </a:r>
            <a:br>
              <a:rPr lang="zh-CN" altLang="en-US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Invoice → Shipment (Lookup)</a:t>
            </a:r>
            <a:endParaRPr lang="zh-CN" altLang="en-US" sz="14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5858994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矩形"/>
          <p:cNvSpPr>
            <a:spLocks/>
          </p:cNvSpPr>
          <p:nvPr/>
        </p:nvSpPr>
        <p:spPr>
          <a:xfrm rot="0">
            <a:off x="0" y="0"/>
            <a:ext cx="12191694" cy="713232"/>
          </a:xfrm>
          <a:prstGeom prst="rect"/>
          <a:solidFill>
            <a:srgbClr val="172F4D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17" name="矩形"/>
          <p:cNvSpPr>
            <a:spLocks/>
          </p:cNvSpPr>
          <p:nvPr/>
        </p:nvSpPr>
        <p:spPr>
          <a:xfrm rot="0">
            <a:off x="502919" y="128015"/>
            <a:ext cx="3984878" cy="5010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0" i="0" u="none" strike="noStrike" kern="1200" cap="none" spc="0" baseline="0">
                <a:solidFill>
                  <a:srgbClr val="FFFFFF"/>
                </a:solidFill>
                <a:latin typeface="Aptos Display" pitchFamily="0" charset="0"/>
                <a:ea typeface="宋体" pitchFamily="0" charset="0"/>
                <a:cs typeface="Calibri" pitchFamily="0" charset="0"/>
              </a:rPr>
              <a:t>7. Key Fields &amp; Shipment Status</a:t>
            </a:r>
            <a:endParaRPr lang="zh-CN" altLang="en-US" sz="2700" b="0" i="0" u="none" strike="noStrike" kern="1200" cap="none" spc="0" baseline="0">
              <a:solidFill>
                <a:srgbClr val="FFFFFF"/>
              </a:solidFill>
              <a:latin typeface="Aptos Display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18" name="矩形"/>
          <p:cNvSpPr>
            <a:spLocks/>
          </p:cNvSpPr>
          <p:nvPr/>
        </p:nvSpPr>
        <p:spPr>
          <a:xfrm rot="0">
            <a:off x="502919" y="6510528"/>
            <a:ext cx="2485262" cy="21526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5F6C7A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Courier Management System  |  Salesforce Project     8/15</a:t>
            </a:r>
            <a:endParaRPr lang="zh-CN" altLang="en-US" sz="900" b="0" i="0" u="none" strike="noStrike" kern="1200" cap="none" spc="0" baseline="0">
              <a:solidFill>
                <a:srgbClr val="5F6C7A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19" name="圆角矩形"/>
          <p:cNvSpPr>
            <a:spLocks/>
          </p:cNvSpPr>
          <p:nvPr/>
        </p:nvSpPr>
        <p:spPr>
          <a:xfrm rot="0">
            <a:off x="685800" y="1097280"/>
            <a:ext cx="5257800" cy="4480559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D7E0E9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20" name="矩形"/>
          <p:cNvSpPr>
            <a:spLocks/>
          </p:cNvSpPr>
          <p:nvPr/>
        </p:nvSpPr>
        <p:spPr>
          <a:xfrm rot="0">
            <a:off x="685800" y="1097280"/>
            <a:ext cx="82295" cy="4480559"/>
          </a:xfrm>
          <a:prstGeom prst="rect"/>
          <a:solidFill>
            <a:srgbClr val="2A68A8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21" name="矩形"/>
          <p:cNvSpPr>
            <a:spLocks/>
          </p:cNvSpPr>
          <p:nvPr/>
        </p:nvSpPr>
        <p:spPr>
          <a:xfrm rot="0">
            <a:off x="914400" y="1261872"/>
            <a:ext cx="1449704" cy="3581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Customer Fields</a:t>
            </a:r>
            <a:endParaRPr lang="zh-CN" altLang="en-US" sz="18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22" name="矩形"/>
          <p:cNvSpPr>
            <a:spLocks/>
          </p:cNvSpPr>
          <p:nvPr/>
        </p:nvSpPr>
        <p:spPr>
          <a:xfrm rot="0">
            <a:off x="914400" y="1755648"/>
            <a:ext cx="4846320" cy="11391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Customer Name</a:t>
            </a:r>
            <a:br>
              <a:rPr lang="zh-CN" altLang="en-US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Email • Phone • Address</a:t>
            </a:r>
            <a:br>
              <a:rPr lang="zh-CN" altLang="en-US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Customer Type: Regular / Business</a:t>
            </a:r>
            <a:br>
              <a:rPr lang="zh-CN" altLang="en-US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City • State • Pincode</a:t>
            </a:r>
            <a:br>
              <a:rPr lang="zh-CN" altLang="en-US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Is Active</a:t>
            </a:r>
            <a:endParaRPr lang="zh-CN" altLang="en-US" sz="14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23" name="圆角矩形"/>
          <p:cNvSpPr>
            <a:spLocks/>
          </p:cNvSpPr>
          <p:nvPr/>
        </p:nvSpPr>
        <p:spPr>
          <a:xfrm rot="0">
            <a:off x="6217920" y="1097280"/>
            <a:ext cx="5257800" cy="4480559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D7E0E9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24" name="矩形"/>
          <p:cNvSpPr>
            <a:spLocks/>
          </p:cNvSpPr>
          <p:nvPr/>
        </p:nvSpPr>
        <p:spPr>
          <a:xfrm rot="0">
            <a:off x="6217920" y="1097280"/>
            <a:ext cx="82296" cy="4480559"/>
          </a:xfrm>
          <a:prstGeom prst="rect"/>
          <a:solidFill>
            <a:srgbClr val="4393C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25" name="矩形"/>
          <p:cNvSpPr>
            <a:spLocks/>
          </p:cNvSpPr>
          <p:nvPr/>
        </p:nvSpPr>
        <p:spPr>
          <a:xfrm rot="0">
            <a:off x="6446520" y="1261872"/>
            <a:ext cx="1426844" cy="3581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Shipment Fields</a:t>
            </a:r>
            <a:endParaRPr lang="zh-CN" altLang="en-US" sz="18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26" name="矩形"/>
          <p:cNvSpPr>
            <a:spLocks/>
          </p:cNvSpPr>
          <p:nvPr/>
        </p:nvSpPr>
        <p:spPr>
          <a:xfrm rot="0">
            <a:off x="6446520" y="1755648"/>
            <a:ext cx="4846320" cy="11391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Tracking Number</a:t>
            </a:r>
            <a:br>
              <a:rPr lang="zh-CN" altLang="en-US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Customer • Source Address</a:t>
            </a:r>
            <a:br>
              <a:rPr lang="zh-CN" altLang="en-US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Destination Address</a:t>
            </a:r>
            <a:br>
              <a:rPr lang="zh-CN" altLang="en-US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Weight • Price • Expected Date</a:t>
            </a:r>
            <a:br>
              <a:rPr lang="zh-CN" altLang="en-US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Assigned Agent • Shipment Type</a:t>
            </a:r>
            <a:endParaRPr lang="zh-CN" altLang="en-US" sz="14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27" name="矩形"/>
          <p:cNvSpPr>
            <a:spLocks/>
          </p:cNvSpPr>
          <p:nvPr/>
        </p:nvSpPr>
        <p:spPr>
          <a:xfrm rot="0">
            <a:off x="1097280" y="5806440"/>
            <a:ext cx="5674995" cy="3105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Shipment Status: Booked → In Transit → Out for Delivery → Delivered / Cancelled</a:t>
            </a:r>
            <a:endParaRPr lang="zh-CN" altLang="en-US" sz="15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498607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矩形"/>
          <p:cNvSpPr>
            <a:spLocks/>
          </p:cNvSpPr>
          <p:nvPr/>
        </p:nvSpPr>
        <p:spPr>
          <a:xfrm rot="0">
            <a:off x="0" y="0"/>
            <a:ext cx="12191694" cy="713232"/>
          </a:xfrm>
          <a:prstGeom prst="rect"/>
          <a:solidFill>
            <a:srgbClr val="172F4D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29" name="矩形"/>
          <p:cNvSpPr>
            <a:spLocks/>
          </p:cNvSpPr>
          <p:nvPr/>
        </p:nvSpPr>
        <p:spPr>
          <a:xfrm rot="0">
            <a:off x="502919" y="128015"/>
            <a:ext cx="4286631" cy="5010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0" i="0" u="none" strike="noStrike" kern="1200" cap="none" spc="0" baseline="0">
                <a:solidFill>
                  <a:srgbClr val="FFFFFF"/>
                </a:solidFill>
                <a:latin typeface="Aptos Display" pitchFamily="0" charset="0"/>
                <a:ea typeface="宋体" pitchFamily="0" charset="0"/>
                <a:cs typeface="Calibri" pitchFamily="0" charset="0"/>
              </a:rPr>
              <a:t>8. Validation Rules &amp; Data Quality</a:t>
            </a:r>
            <a:endParaRPr lang="zh-CN" altLang="en-US" sz="2700" b="0" i="0" u="none" strike="noStrike" kern="1200" cap="none" spc="0" baseline="0">
              <a:solidFill>
                <a:srgbClr val="FFFFFF"/>
              </a:solidFill>
              <a:latin typeface="Aptos Display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30" name="矩形"/>
          <p:cNvSpPr>
            <a:spLocks/>
          </p:cNvSpPr>
          <p:nvPr/>
        </p:nvSpPr>
        <p:spPr>
          <a:xfrm rot="0">
            <a:off x="502919" y="6510528"/>
            <a:ext cx="2485262" cy="21526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5F6C7A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Courier Management System  |  Salesforce Project     9/15</a:t>
            </a:r>
            <a:endParaRPr lang="zh-CN" altLang="en-US" sz="900" b="0" i="0" u="none" strike="noStrike" kern="1200" cap="none" spc="0" baseline="0">
              <a:solidFill>
                <a:srgbClr val="5F6C7A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31" name="矩形"/>
          <p:cNvSpPr>
            <a:spLocks/>
          </p:cNvSpPr>
          <p:nvPr/>
        </p:nvSpPr>
        <p:spPr>
          <a:xfrm rot="0">
            <a:off x="731520" y="1051560"/>
            <a:ext cx="10698479" cy="343547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73152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Customer email must not be blank.</a:t>
            </a:r>
            <a:endParaRPr lang="en-US" altLang="zh-CN" sz="16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Customer phone number must be 10 digits.</a:t>
            </a:r>
            <a:endParaRPr lang="en-US" altLang="zh-CN" sz="16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Pincode must be 6 digits.</a:t>
            </a:r>
            <a:endParaRPr lang="en-US" altLang="zh-CN" sz="16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Shipment weight must be greater than zero.</a:t>
            </a:r>
            <a:endParaRPr lang="en-US" altLang="zh-CN" sz="16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Shipment price must be greater than zero.</a:t>
            </a:r>
            <a:endParaRPr lang="en-US" altLang="zh-CN" sz="16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Expected delivery date cannot be in the past.</a:t>
            </a:r>
            <a:endParaRPr lang="en-US" altLang="zh-CN" sz="16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Delivery agent email must contain a valid email format.</a:t>
            </a:r>
            <a:endParaRPr lang="en-US" altLang="zh-CN" sz="16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Branch code is mandatory.</a:t>
            </a:r>
            <a:endParaRPr lang="en-US" altLang="zh-CN" sz="16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If shipment status is Delayed, remarks are required.</a:t>
            </a:r>
            <a:endParaRPr lang="zh-CN" altLang="en-US" sz="16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157461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矩形"/>
          <p:cNvSpPr>
            <a:spLocks/>
          </p:cNvSpPr>
          <p:nvPr/>
        </p:nvSpPr>
        <p:spPr>
          <a:xfrm rot="0">
            <a:off x="0" y="0"/>
            <a:ext cx="12191694" cy="713232"/>
          </a:xfrm>
          <a:prstGeom prst="rect"/>
          <a:solidFill>
            <a:srgbClr val="172F4D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33" name="矩形"/>
          <p:cNvSpPr>
            <a:spLocks/>
          </p:cNvSpPr>
          <p:nvPr/>
        </p:nvSpPr>
        <p:spPr>
          <a:xfrm rot="0">
            <a:off x="502919" y="128015"/>
            <a:ext cx="4416932" cy="5010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0" i="0" u="none" strike="noStrike" kern="1200" cap="none" spc="0" baseline="0">
                <a:solidFill>
                  <a:srgbClr val="FFFFFF"/>
                </a:solidFill>
                <a:latin typeface="Aptos Display" pitchFamily="0" charset="0"/>
                <a:ea typeface="宋体" pitchFamily="0" charset="0"/>
                <a:cs typeface="Calibri" pitchFamily="0" charset="0"/>
              </a:rPr>
              <a:t>9. Automation with Salesforce Flow</a:t>
            </a:r>
            <a:endParaRPr lang="zh-CN" altLang="en-US" sz="2700" b="0" i="0" u="none" strike="noStrike" kern="1200" cap="none" spc="0" baseline="0">
              <a:solidFill>
                <a:srgbClr val="FFFFFF"/>
              </a:solidFill>
              <a:latin typeface="Aptos Display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34" name="矩形"/>
          <p:cNvSpPr>
            <a:spLocks/>
          </p:cNvSpPr>
          <p:nvPr/>
        </p:nvSpPr>
        <p:spPr>
          <a:xfrm rot="0">
            <a:off x="502919" y="6510528"/>
            <a:ext cx="2540127" cy="21526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5F6C7A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Courier Management System  |  Salesforce Project     10/15</a:t>
            </a:r>
            <a:endParaRPr lang="zh-CN" altLang="en-US" sz="900" b="0" i="0" u="none" strike="noStrike" kern="1200" cap="none" spc="0" baseline="0">
              <a:solidFill>
                <a:srgbClr val="5F6C7A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35" name="圆角矩形"/>
          <p:cNvSpPr>
            <a:spLocks/>
          </p:cNvSpPr>
          <p:nvPr/>
        </p:nvSpPr>
        <p:spPr>
          <a:xfrm rot="0">
            <a:off x="640080" y="1234440"/>
            <a:ext cx="3017519" cy="1828800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D7E0E9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36" name="矩形"/>
          <p:cNvSpPr>
            <a:spLocks/>
          </p:cNvSpPr>
          <p:nvPr/>
        </p:nvSpPr>
        <p:spPr>
          <a:xfrm rot="0">
            <a:off x="640080" y="1234440"/>
            <a:ext cx="82295" cy="1828800"/>
          </a:xfrm>
          <a:prstGeom prst="rect"/>
          <a:solidFill>
            <a:srgbClr val="2A68A8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37" name="矩形"/>
          <p:cNvSpPr>
            <a:spLocks/>
          </p:cNvSpPr>
          <p:nvPr/>
        </p:nvSpPr>
        <p:spPr>
          <a:xfrm rot="0">
            <a:off x="868680" y="1399032"/>
            <a:ext cx="1019936" cy="3581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1. Trigger</a:t>
            </a:r>
            <a:endParaRPr lang="zh-CN" altLang="en-US" sz="18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38" name="矩形"/>
          <p:cNvSpPr>
            <a:spLocks/>
          </p:cNvSpPr>
          <p:nvPr/>
        </p:nvSpPr>
        <p:spPr>
          <a:xfrm rot="0">
            <a:off x="868680" y="1892808"/>
            <a:ext cx="2606039" cy="5105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 Delivery_Update__c record is created.</a:t>
            </a:r>
            <a:endParaRPr lang="zh-CN" altLang="en-US" sz="14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39" name="圆角矩形"/>
          <p:cNvSpPr>
            <a:spLocks/>
          </p:cNvSpPr>
          <p:nvPr/>
        </p:nvSpPr>
        <p:spPr>
          <a:xfrm rot="0">
            <a:off x="4572000" y="1234440"/>
            <a:ext cx="3017519" cy="1828800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D7E0E9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40" name="矩形"/>
          <p:cNvSpPr>
            <a:spLocks/>
          </p:cNvSpPr>
          <p:nvPr/>
        </p:nvSpPr>
        <p:spPr>
          <a:xfrm rot="0">
            <a:off x="4572000" y="1234440"/>
            <a:ext cx="82296" cy="1828800"/>
          </a:xfrm>
          <a:prstGeom prst="rect"/>
          <a:solidFill>
            <a:srgbClr val="4393C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41" name="矩形"/>
          <p:cNvSpPr>
            <a:spLocks/>
          </p:cNvSpPr>
          <p:nvPr/>
        </p:nvSpPr>
        <p:spPr>
          <a:xfrm rot="0">
            <a:off x="4800600" y="1399032"/>
            <a:ext cx="1536573" cy="3581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2. Find Shipment</a:t>
            </a:r>
            <a:endParaRPr lang="zh-CN" altLang="en-US" sz="18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42" name="矩形"/>
          <p:cNvSpPr>
            <a:spLocks/>
          </p:cNvSpPr>
          <p:nvPr/>
        </p:nvSpPr>
        <p:spPr>
          <a:xfrm rot="0">
            <a:off x="4800600" y="1892808"/>
            <a:ext cx="2606039" cy="7200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Flow identifies the related Shipment__c record using the shipment ID.</a:t>
            </a:r>
            <a:endParaRPr lang="zh-CN" altLang="en-US" sz="14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43" name="圆角矩形"/>
          <p:cNvSpPr>
            <a:spLocks/>
          </p:cNvSpPr>
          <p:nvPr/>
        </p:nvSpPr>
        <p:spPr>
          <a:xfrm rot="0">
            <a:off x="8503920" y="1234440"/>
            <a:ext cx="3017519" cy="1828800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D7E0E9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44" name="矩形"/>
          <p:cNvSpPr>
            <a:spLocks/>
          </p:cNvSpPr>
          <p:nvPr/>
        </p:nvSpPr>
        <p:spPr>
          <a:xfrm rot="0">
            <a:off x="8503920" y="1234440"/>
            <a:ext cx="82296" cy="1828800"/>
          </a:xfrm>
          <a:prstGeom prst="rect"/>
          <a:solidFill>
            <a:srgbClr val="2A68A8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45" name="矩形"/>
          <p:cNvSpPr>
            <a:spLocks/>
          </p:cNvSpPr>
          <p:nvPr/>
        </p:nvSpPr>
        <p:spPr>
          <a:xfrm rot="0">
            <a:off x="8732520" y="1399032"/>
            <a:ext cx="1472564" cy="3581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3. Update Status</a:t>
            </a:r>
            <a:endParaRPr lang="zh-CN" altLang="en-US" sz="18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46" name="矩形"/>
          <p:cNvSpPr>
            <a:spLocks/>
          </p:cNvSpPr>
          <p:nvPr/>
        </p:nvSpPr>
        <p:spPr>
          <a:xfrm rot="0">
            <a:off x="8732520" y="1892808"/>
            <a:ext cx="2606038" cy="5105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Shipment Status__c is updated with the latest delivery status.</a:t>
            </a:r>
            <a:endParaRPr lang="zh-CN" altLang="en-US" sz="14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47" name="右箭头"/>
          <p:cNvSpPr>
            <a:spLocks/>
          </p:cNvSpPr>
          <p:nvPr/>
        </p:nvSpPr>
        <p:spPr>
          <a:xfrm rot="0">
            <a:off x="3794760" y="1828800"/>
            <a:ext cx="502920" cy="365760"/>
          </a:xfrm>
          <a:prstGeom prst="rightArrow">
            <a:avLst>
              <a:gd name="adj1" fmla="val 50000"/>
              <a:gd name="adj2" fmla="val 48748"/>
            </a:avLst>
          </a:prstGeom>
          <a:solidFill>
            <a:srgbClr val="4393C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48" name="右箭头"/>
          <p:cNvSpPr>
            <a:spLocks/>
          </p:cNvSpPr>
          <p:nvPr/>
        </p:nvSpPr>
        <p:spPr>
          <a:xfrm rot="0">
            <a:off x="7726679" y="1828800"/>
            <a:ext cx="502919" cy="365760"/>
          </a:xfrm>
          <a:prstGeom prst="rightArrow">
            <a:avLst>
              <a:gd name="adj1" fmla="val 50000"/>
              <a:gd name="adj2" fmla="val 48748"/>
            </a:avLst>
          </a:prstGeom>
          <a:solidFill>
            <a:srgbClr val="4393C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49" name="圆角矩形"/>
          <p:cNvSpPr>
            <a:spLocks/>
          </p:cNvSpPr>
          <p:nvPr/>
        </p:nvSpPr>
        <p:spPr>
          <a:xfrm rot="0">
            <a:off x="1920240" y="4069080"/>
            <a:ext cx="8321039" cy="1325879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D7E0E9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50" name="矩形"/>
          <p:cNvSpPr>
            <a:spLocks/>
          </p:cNvSpPr>
          <p:nvPr/>
        </p:nvSpPr>
        <p:spPr>
          <a:xfrm rot="0">
            <a:off x="1920240" y="4069080"/>
            <a:ext cx="82296" cy="1325879"/>
          </a:xfrm>
          <a:prstGeom prst="rect"/>
          <a:solidFill>
            <a:srgbClr val="4393C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51" name="矩形"/>
          <p:cNvSpPr>
            <a:spLocks/>
          </p:cNvSpPr>
          <p:nvPr/>
        </p:nvSpPr>
        <p:spPr>
          <a:xfrm rot="0">
            <a:off x="2148840" y="4233672"/>
            <a:ext cx="672464" cy="3581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Result</a:t>
            </a:r>
            <a:endParaRPr lang="zh-CN" altLang="en-US" sz="18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52" name="矩形"/>
          <p:cNvSpPr>
            <a:spLocks/>
          </p:cNvSpPr>
          <p:nvPr/>
        </p:nvSpPr>
        <p:spPr>
          <a:xfrm rot="0">
            <a:off x="2148840" y="4727448"/>
            <a:ext cx="7909560" cy="5105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Delivery updates automatically synchronize the related shipment status, reducing manual intervention and improving tracking accuracy.</a:t>
            </a:r>
            <a:endParaRPr lang="zh-CN" altLang="en-US" sz="14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419030"/>
      </p:ext>
    </p:extLst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矩形"/>
          <p:cNvSpPr>
            <a:spLocks/>
          </p:cNvSpPr>
          <p:nvPr/>
        </p:nvSpPr>
        <p:spPr>
          <a:xfrm rot="0">
            <a:off x="0" y="0"/>
            <a:ext cx="12191694" cy="713232"/>
          </a:xfrm>
          <a:prstGeom prst="rect"/>
          <a:solidFill>
            <a:srgbClr val="172F4D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54" name="矩形"/>
          <p:cNvSpPr>
            <a:spLocks/>
          </p:cNvSpPr>
          <p:nvPr/>
        </p:nvSpPr>
        <p:spPr>
          <a:xfrm rot="0">
            <a:off x="502919" y="128015"/>
            <a:ext cx="3696843" cy="5010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0" i="0" u="none" strike="noStrike" kern="1200" cap="none" spc="0" baseline="0">
                <a:solidFill>
                  <a:srgbClr val="FFFFFF"/>
                </a:solidFill>
                <a:latin typeface="Aptos Display" pitchFamily="0" charset="0"/>
                <a:ea typeface="宋体" pitchFamily="0" charset="0"/>
                <a:cs typeface="Calibri" pitchFamily="0" charset="0"/>
              </a:rPr>
              <a:t>10. Security, Profiles &amp; Roles</a:t>
            </a:r>
            <a:endParaRPr lang="zh-CN" altLang="en-US" sz="2700" b="0" i="0" u="none" strike="noStrike" kern="1200" cap="none" spc="0" baseline="0">
              <a:solidFill>
                <a:srgbClr val="FFFFFF"/>
              </a:solidFill>
              <a:latin typeface="Aptos Display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55" name="矩形"/>
          <p:cNvSpPr>
            <a:spLocks/>
          </p:cNvSpPr>
          <p:nvPr/>
        </p:nvSpPr>
        <p:spPr>
          <a:xfrm rot="0">
            <a:off x="502919" y="6510528"/>
            <a:ext cx="2540127" cy="21526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5F6C7A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Courier Management System  |  Salesforce Project     11/15</a:t>
            </a:r>
            <a:endParaRPr lang="zh-CN" altLang="en-US" sz="900" b="0" i="0" u="none" strike="noStrike" kern="1200" cap="none" spc="0" baseline="0">
              <a:solidFill>
                <a:srgbClr val="5F6C7A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56" name="圆角矩形"/>
          <p:cNvSpPr>
            <a:spLocks/>
          </p:cNvSpPr>
          <p:nvPr/>
        </p:nvSpPr>
        <p:spPr>
          <a:xfrm rot="0">
            <a:off x="640080" y="1143000"/>
            <a:ext cx="2560320" cy="1965959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D7E0E9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57" name="矩形"/>
          <p:cNvSpPr>
            <a:spLocks/>
          </p:cNvSpPr>
          <p:nvPr/>
        </p:nvSpPr>
        <p:spPr>
          <a:xfrm rot="0">
            <a:off x="640080" y="1143000"/>
            <a:ext cx="82295" cy="1965959"/>
          </a:xfrm>
          <a:prstGeom prst="rect"/>
          <a:solidFill>
            <a:srgbClr val="2A68A8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58" name="矩形"/>
          <p:cNvSpPr>
            <a:spLocks/>
          </p:cNvSpPr>
          <p:nvPr/>
        </p:nvSpPr>
        <p:spPr>
          <a:xfrm rot="0">
            <a:off x="868680" y="1307592"/>
            <a:ext cx="1358265" cy="3581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Courier Admin</a:t>
            </a:r>
            <a:endParaRPr lang="zh-CN" altLang="en-US" sz="18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59" name="矩形"/>
          <p:cNvSpPr>
            <a:spLocks/>
          </p:cNvSpPr>
          <p:nvPr/>
        </p:nvSpPr>
        <p:spPr>
          <a:xfrm rot="0">
            <a:off x="868680" y="1801368"/>
            <a:ext cx="2148839" cy="5105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Full system control and administration.</a:t>
            </a:r>
            <a:endParaRPr lang="zh-CN" altLang="en-US" sz="14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60" name="圆角矩形"/>
          <p:cNvSpPr>
            <a:spLocks/>
          </p:cNvSpPr>
          <p:nvPr/>
        </p:nvSpPr>
        <p:spPr>
          <a:xfrm rot="0">
            <a:off x="3383279" y="1143000"/>
            <a:ext cx="2560320" cy="1965959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D7E0E9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61" name="矩形"/>
          <p:cNvSpPr>
            <a:spLocks/>
          </p:cNvSpPr>
          <p:nvPr/>
        </p:nvSpPr>
        <p:spPr>
          <a:xfrm rot="0">
            <a:off x="3383279" y="1143000"/>
            <a:ext cx="82296" cy="1965959"/>
          </a:xfrm>
          <a:prstGeom prst="rect"/>
          <a:solidFill>
            <a:srgbClr val="4393C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62" name="矩形"/>
          <p:cNvSpPr>
            <a:spLocks/>
          </p:cNvSpPr>
          <p:nvPr/>
        </p:nvSpPr>
        <p:spPr>
          <a:xfrm rot="0">
            <a:off x="3611880" y="1307592"/>
            <a:ext cx="1477136" cy="3581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Branch Manager</a:t>
            </a:r>
            <a:endParaRPr lang="zh-CN" altLang="en-US" sz="18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63" name="矩形"/>
          <p:cNvSpPr>
            <a:spLocks/>
          </p:cNvSpPr>
          <p:nvPr/>
        </p:nvSpPr>
        <p:spPr>
          <a:xfrm rot="0">
            <a:off x="3611880" y="1801368"/>
            <a:ext cx="2148838" cy="5105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Manages branch shipments and agents.</a:t>
            </a:r>
            <a:endParaRPr lang="zh-CN" altLang="en-US" sz="14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64" name="圆角矩形"/>
          <p:cNvSpPr>
            <a:spLocks/>
          </p:cNvSpPr>
          <p:nvPr/>
        </p:nvSpPr>
        <p:spPr>
          <a:xfrm rot="0">
            <a:off x="6126479" y="1143000"/>
            <a:ext cx="2560320" cy="1965959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D7E0E9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65" name="矩形"/>
          <p:cNvSpPr>
            <a:spLocks/>
          </p:cNvSpPr>
          <p:nvPr/>
        </p:nvSpPr>
        <p:spPr>
          <a:xfrm rot="0">
            <a:off x="6126479" y="1143000"/>
            <a:ext cx="82296" cy="1965959"/>
          </a:xfrm>
          <a:prstGeom prst="rect"/>
          <a:solidFill>
            <a:srgbClr val="2A68A8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66" name="矩形"/>
          <p:cNvSpPr>
            <a:spLocks/>
          </p:cNvSpPr>
          <p:nvPr/>
        </p:nvSpPr>
        <p:spPr>
          <a:xfrm rot="0">
            <a:off x="6355080" y="1307592"/>
            <a:ext cx="1353692" cy="3581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Delivery Agent</a:t>
            </a:r>
            <a:endParaRPr lang="zh-CN" altLang="en-US" sz="18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67" name="矩形"/>
          <p:cNvSpPr>
            <a:spLocks/>
          </p:cNvSpPr>
          <p:nvPr/>
        </p:nvSpPr>
        <p:spPr>
          <a:xfrm rot="0">
            <a:off x="6355080" y="1801368"/>
            <a:ext cx="2148839" cy="5105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Updates delivery status for assigned work.</a:t>
            </a:r>
            <a:endParaRPr lang="zh-CN" altLang="en-US" sz="14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68" name="圆角矩形"/>
          <p:cNvSpPr>
            <a:spLocks/>
          </p:cNvSpPr>
          <p:nvPr/>
        </p:nvSpPr>
        <p:spPr>
          <a:xfrm rot="0">
            <a:off x="8869680" y="1143000"/>
            <a:ext cx="2560320" cy="1965959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D7E0E9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69" name="矩形"/>
          <p:cNvSpPr>
            <a:spLocks/>
          </p:cNvSpPr>
          <p:nvPr/>
        </p:nvSpPr>
        <p:spPr>
          <a:xfrm rot="0">
            <a:off x="8869680" y="1143000"/>
            <a:ext cx="82296" cy="1965959"/>
          </a:xfrm>
          <a:prstGeom prst="rect"/>
          <a:solidFill>
            <a:srgbClr val="4393C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70" name="矩形"/>
          <p:cNvSpPr>
            <a:spLocks/>
          </p:cNvSpPr>
          <p:nvPr/>
        </p:nvSpPr>
        <p:spPr>
          <a:xfrm rot="0">
            <a:off x="9098280" y="1307592"/>
            <a:ext cx="1568577" cy="3581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Customer Support</a:t>
            </a:r>
            <a:endParaRPr lang="zh-CN" altLang="en-US" sz="18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71" name="矩形"/>
          <p:cNvSpPr>
            <a:spLocks/>
          </p:cNvSpPr>
          <p:nvPr/>
        </p:nvSpPr>
        <p:spPr>
          <a:xfrm rot="0">
            <a:off x="9098280" y="1801368"/>
            <a:ext cx="2148839" cy="5105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Handles customer information and tracking.</a:t>
            </a:r>
            <a:endParaRPr lang="zh-CN" altLang="en-US" sz="14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72" name="矩形"/>
          <p:cNvSpPr>
            <a:spLocks/>
          </p:cNvSpPr>
          <p:nvPr/>
        </p:nvSpPr>
        <p:spPr>
          <a:xfrm rot="0">
            <a:off x="914400" y="3749039"/>
            <a:ext cx="10149840" cy="114947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73152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Profiles control permissions, tabs, apps and object access.</a:t>
            </a:r>
            <a:endParaRPr lang="en-US" altLang="zh-CN" sz="17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Roles define data visibility and reporting hierarchy.</a:t>
            </a:r>
            <a:endParaRPr lang="en-US" altLang="zh-CN" sz="17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Role hierarchy: Courier Admin → Branch Manager → Delivery Agent / Customer Support.</a:t>
            </a:r>
            <a:endParaRPr lang="zh-CN" altLang="en-US" sz="17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902238"/>
      </p:ext>
    </p:extLst>
  </p:cSld>
  <p:clrMapOvr>
    <a:masterClrMapping/>
  </p:clrMapOvr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矩形"/>
          <p:cNvSpPr>
            <a:spLocks/>
          </p:cNvSpPr>
          <p:nvPr/>
        </p:nvSpPr>
        <p:spPr>
          <a:xfrm rot="0">
            <a:off x="0" y="0"/>
            <a:ext cx="12191694" cy="713232"/>
          </a:xfrm>
          <a:prstGeom prst="rect"/>
          <a:solidFill>
            <a:srgbClr val="172F4D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74" name="矩形"/>
          <p:cNvSpPr>
            <a:spLocks/>
          </p:cNvSpPr>
          <p:nvPr/>
        </p:nvSpPr>
        <p:spPr>
          <a:xfrm rot="0">
            <a:off x="502919" y="128015"/>
            <a:ext cx="3189351" cy="5010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0" i="0" u="none" strike="noStrike" kern="1200" cap="none" spc="0" baseline="0">
                <a:solidFill>
                  <a:srgbClr val="FFFFFF"/>
                </a:solidFill>
                <a:latin typeface="Aptos Display" pitchFamily="0" charset="0"/>
                <a:ea typeface="宋体" pitchFamily="0" charset="0"/>
                <a:cs typeface="Calibri" pitchFamily="0" charset="0"/>
              </a:rPr>
              <a:t>11. Reports &amp; Dashboard</a:t>
            </a:r>
            <a:endParaRPr lang="zh-CN" altLang="en-US" sz="2700" b="0" i="0" u="none" strike="noStrike" kern="1200" cap="none" spc="0" baseline="0">
              <a:solidFill>
                <a:srgbClr val="FFFFFF"/>
              </a:solidFill>
              <a:latin typeface="Aptos Display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75" name="矩形"/>
          <p:cNvSpPr>
            <a:spLocks/>
          </p:cNvSpPr>
          <p:nvPr/>
        </p:nvSpPr>
        <p:spPr>
          <a:xfrm rot="0">
            <a:off x="502919" y="6510528"/>
            <a:ext cx="2540127" cy="21526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5F6C7A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Courier Management System  |  Salesforce Project     12/15</a:t>
            </a:r>
            <a:endParaRPr lang="zh-CN" altLang="en-US" sz="900" b="0" i="0" u="none" strike="noStrike" kern="1200" cap="none" spc="0" baseline="0">
              <a:solidFill>
                <a:srgbClr val="5F6C7A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76" name="圆角矩形"/>
          <p:cNvSpPr>
            <a:spLocks/>
          </p:cNvSpPr>
          <p:nvPr/>
        </p:nvSpPr>
        <p:spPr>
          <a:xfrm rot="0">
            <a:off x="685800" y="1097280"/>
            <a:ext cx="3337560" cy="1874519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D7E0E9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77" name="矩形"/>
          <p:cNvSpPr>
            <a:spLocks/>
          </p:cNvSpPr>
          <p:nvPr/>
        </p:nvSpPr>
        <p:spPr>
          <a:xfrm rot="0">
            <a:off x="685800" y="1097280"/>
            <a:ext cx="82295" cy="1874519"/>
          </a:xfrm>
          <a:prstGeom prst="rect"/>
          <a:solidFill>
            <a:srgbClr val="2A68A8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78" name="矩形"/>
          <p:cNvSpPr>
            <a:spLocks/>
          </p:cNvSpPr>
          <p:nvPr/>
        </p:nvSpPr>
        <p:spPr>
          <a:xfrm rot="0">
            <a:off x="914400" y="1261872"/>
            <a:ext cx="2222373" cy="3581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Shipment Status Summary</a:t>
            </a:r>
            <a:endParaRPr lang="zh-CN" altLang="en-US" sz="18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79" name="矩形"/>
          <p:cNvSpPr>
            <a:spLocks/>
          </p:cNvSpPr>
          <p:nvPr/>
        </p:nvSpPr>
        <p:spPr>
          <a:xfrm rot="0">
            <a:off x="914400" y="1755648"/>
            <a:ext cx="2926079" cy="7200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Tracking number, customer, status, expected date and assigned agent. Grouped by status with price summary.</a:t>
            </a:r>
            <a:endParaRPr lang="zh-CN" altLang="en-US" sz="14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80" name="圆角矩形"/>
          <p:cNvSpPr>
            <a:spLocks/>
          </p:cNvSpPr>
          <p:nvPr/>
        </p:nvSpPr>
        <p:spPr>
          <a:xfrm rot="0">
            <a:off x="4434840" y="1097280"/>
            <a:ext cx="3337560" cy="1874519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D7E0E9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81" name="矩形"/>
          <p:cNvSpPr>
            <a:spLocks/>
          </p:cNvSpPr>
          <p:nvPr/>
        </p:nvSpPr>
        <p:spPr>
          <a:xfrm rot="0">
            <a:off x="4434840" y="1097280"/>
            <a:ext cx="82296" cy="1874519"/>
          </a:xfrm>
          <a:prstGeom prst="rect"/>
          <a:solidFill>
            <a:srgbClr val="4393C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82" name="矩形"/>
          <p:cNvSpPr>
            <a:spLocks/>
          </p:cNvSpPr>
          <p:nvPr/>
        </p:nvSpPr>
        <p:spPr>
          <a:xfrm rot="0">
            <a:off x="4663440" y="1261872"/>
            <a:ext cx="1687449" cy="3581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Agent Performance</a:t>
            </a:r>
            <a:endParaRPr lang="zh-CN" altLang="en-US" sz="18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83" name="矩形"/>
          <p:cNvSpPr>
            <a:spLocks/>
          </p:cNvSpPr>
          <p:nvPr/>
        </p:nvSpPr>
        <p:spPr>
          <a:xfrm rot="0">
            <a:off x="4663440" y="1755648"/>
            <a:ext cx="2926079" cy="5105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Agent name, branch, number of shipments and status. Used to monitor delivery performance.</a:t>
            </a:r>
            <a:endParaRPr lang="zh-CN" altLang="en-US" sz="14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84" name="圆角矩形"/>
          <p:cNvSpPr>
            <a:spLocks/>
          </p:cNvSpPr>
          <p:nvPr/>
        </p:nvSpPr>
        <p:spPr>
          <a:xfrm rot="0">
            <a:off x="8183879" y="1097280"/>
            <a:ext cx="3337560" cy="1874519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D7E0E9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85" name="矩形"/>
          <p:cNvSpPr>
            <a:spLocks/>
          </p:cNvSpPr>
          <p:nvPr/>
        </p:nvSpPr>
        <p:spPr>
          <a:xfrm rot="0">
            <a:off x="8183879" y="1097280"/>
            <a:ext cx="82296" cy="1874519"/>
          </a:xfrm>
          <a:prstGeom prst="rect"/>
          <a:solidFill>
            <a:srgbClr val="2A68A8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86" name="矩形"/>
          <p:cNvSpPr>
            <a:spLocks/>
          </p:cNvSpPr>
          <p:nvPr/>
        </p:nvSpPr>
        <p:spPr>
          <a:xfrm rot="0">
            <a:off x="8412480" y="1261872"/>
            <a:ext cx="1664588" cy="3581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Revenue by Branch</a:t>
            </a:r>
            <a:endParaRPr lang="zh-CN" altLang="en-US" sz="18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87" name="矩形"/>
          <p:cNvSpPr>
            <a:spLocks/>
          </p:cNvSpPr>
          <p:nvPr/>
        </p:nvSpPr>
        <p:spPr>
          <a:xfrm rot="0">
            <a:off x="8412480" y="1755648"/>
            <a:ext cx="2926078" cy="5105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Tracking number, customer, price and invoice status, grouped by branch and month.</a:t>
            </a:r>
            <a:endParaRPr lang="zh-CN" altLang="en-US" sz="14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88" name="圆角矩形"/>
          <p:cNvSpPr>
            <a:spLocks/>
          </p:cNvSpPr>
          <p:nvPr/>
        </p:nvSpPr>
        <p:spPr>
          <a:xfrm rot="0">
            <a:off x="1828800" y="3657600"/>
            <a:ext cx="2560320" cy="1508759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D7E0E9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89" name="矩形"/>
          <p:cNvSpPr>
            <a:spLocks/>
          </p:cNvSpPr>
          <p:nvPr/>
        </p:nvSpPr>
        <p:spPr>
          <a:xfrm rot="0">
            <a:off x="1828800" y="3657600"/>
            <a:ext cx="82296" cy="1508759"/>
          </a:xfrm>
          <a:prstGeom prst="rect"/>
          <a:solidFill>
            <a:srgbClr val="4393C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90" name="矩形"/>
          <p:cNvSpPr>
            <a:spLocks/>
          </p:cNvSpPr>
          <p:nvPr/>
        </p:nvSpPr>
        <p:spPr>
          <a:xfrm rot="0">
            <a:off x="2057400" y="3822191"/>
            <a:ext cx="1161668" cy="3581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Donut Chart</a:t>
            </a:r>
            <a:endParaRPr lang="zh-CN" altLang="en-US" sz="18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91" name="矩形"/>
          <p:cNvSpPr>
            <a:spLocks/>
          </p:cNvSpPr>
          <p:nvPr/>
        </p:nvSpPr>
        <p:spPr>
          <a:xfrm rot="0">
            <a:off x="2057400" y="4315968"/>
            <a:ext cx="2148839" cy="3009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Shipment Status Overview</a:t>
            </a:r>
            <a:endParaRPr lang="zh-CN" altLang="en-US" sz="14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92" name="圆角矩形"/>
          <p:cNvSpPr>
            <a:spLocks/>
          </p:cNvSpPr>
          <p:nvPr/>
        </p:nvSpPr>
        <p:spPr>
          <a:xfrm rot="0">
            <a:off x="4800600" y="3657600"/>
            <a:ext cx="2560319" cy="1508759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D7E0E9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93" name="矩形"/>
          <p:cNvSpPr>
            <a:spLocks/>
          </p:cNvSpPr>
          <p:nvPr/>
        </p:nvSpPr>
        <p:spPr>
          <a:xfrm rot="0">
            <a:off x="4800600" y="3657600"/>
            <a:ext cx="82296" cy="1508759"/>
          </a:xfrm>
          <a:prstGeom prst="rect"/>
          <a:solidFill>
            <a:srgbClr val="2A68A8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94" name="矩形"/>
          <p:cNvSpPr>
            <a:spLocks/>
          </p:cNvSpPr>
          <p:nvPr/>
        </p:nvSpPr>
        <p:spPr>
          <a:xfrm rot="0">
            <a:off x="5029200" y="3822191"/>
            <a:ext cx="1010792" cy="3581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Bar Chart</a:t>
            </a:r>
            <a:endParaRPr lang="zh-CN" altLang="en-US" sz="18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95" name="矩形"/>
          <p:cNvSpPr>
            <a:spLocks/>
          </p:cNvSpPr>
          <p:nvPr/>
        </p:nvSpPr>
        <p:spPr>
          <a:xfrm rot="0">
            <a:off x="5029200" y="4315968"/>
            <a:ext cx="2148839" cy="3009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Agent Performance</a:t>
            </a:r>
            <a:endParaRPr lang="zh-CN" altLang="en-US" sz="14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96" name="圆角矩形"/>
          <p:cNvSpPr>
            <a:spLocks/>
          </p:cNvSpPr>
          <p:nvPr/>
        </p:nvSpPr>
        <p:spPr>
          <a:xfrm rot="0">
            <a:off x="7772400" y="3657600"/>
            <a:ext cx="2560319" cy="1508759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D7E0E9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97" name="矩形"/>
          <p:cNvSpPr>
            <a:spLocks/>
          </p:cNvSpPr>
          <p:nvPr/>
        </p:nvSpPr>
        <p:spPr>
          <a:xfrm rot="0">
            <a:off x="7772400" y="3657600"/>
            <a:ext cx="82296" cy="1508759"/>
          </a:xfrm>
          <a:prstGeom prst="rect"/>
          <a:solidFill>
            <a:srgbClr val="4393C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98" name="矩形"/>
          <p:cNvSpPr>
            <a:spLocks/>
          </p:cNvSpPr>
          <p:nvPr/>
        </p:nvSpPr>
        <p:spPr>
          <a:xfrm rot="0">
            <a:off x="8000999" y="3822191"/>
            <a:ext cx="1257680" cy="3581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Column Chart</a:t>
            </a:r>
            <a:endParaRPr lang="zh-CN" altLang="en-US" sz="18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99" name="矩形"/>
          <p:cNvSpPr>
            <a:spLocks/>
          </p:cNvSpPr>
          <p:nvPr/>
        </p:nvSpPr>
        <p:spPr>
          <a:xfrm rot="0">
            <a:off x="8000999" y="4315968"/>
            <a:ext cx="2148839" cy="3009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Revenue by Branch</a:t>
            </a:r>
            <a:endParaRPr lang="zh-CN" altLang="en-US" sz="14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2790420"/>
      </p:ext>
    </p:extLst>
  </p:cSld>
  <p:clrMapOvr>
    <a:masterClrMapping/>
  </p:clrMapOvr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文本框"/>
          <p:cNvSpPr>
            <a:spLocks noGrp="1"/>
          </p:cNvSpPr>
          <p:nvPr>
            <p:ph type="title"/>
          </p:nvPr>
        </p:nvSpPr>
        <p:spPr>
          <a:xfrm rot="0">
            <a:off x="608638" y="273595"/>
            <a:ext cx="10960281" cy="114478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Dashboard </a:t>
            </a:r>
            <a:endParaRPr lang="zh-CN" altLang="en-US"/>
          </a:p>
        </p:txBody>
      </p:sp>
      <p:sp>
        <p:nvSpPr>
          <p:cNvPr id="235" name="文本框"/>
          <p:cNvSpPr>
            <a:spLocks noGrp="1"/>
          </p:cNvSpPr>
          <p:nvPr>
            <p:ph type="body" idx="1"/>
          </p:nvPr>
        </p:nvSpPr>
        <p:spPr>
          <a:xfrm rot="0">
            <a:off x="608638" y="1601975"/>
            <a:ext cx="10960281" cy="45287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pic>
        <p:nvPicPr>
          <p:cNvPr id="236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380994" y="1585881"/>
            <a:ext cx="11410776" cy="4498819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764938308"/>
      </p:ext>
    </p:extLst>
  </p:cSld>
  <p:clrMapOvr>
    <a:masterClrMapping/>
  </p:clrMapOvr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矩形"/>
          <p:cNvSpPr>
            <a:spLocks/>
          </p:cNvSpPr>
          <p:nvPr/>
        </p:nvSpPr>
        <p:spPr>
          <a:xfrm rot="0">
            <a:off x="0" y="0"/>
            <a:ext cx="12191694" cy="713232"/>
          </a:xfrm>
          <a:prstGeom prst="rect"/>
          <a:solidFill>
            <a:srgbClr val="172F4D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01" name="矩形"/>
          <p:cNvSpPr>
            <a:spLocks/>
          </p:cNvSpPr>
          <p:nvPr/>
        </p:nvSpPr>
        <p:spPr>
          <a:xfrm rot="0">
            <a:off x="502919" y="128015"/>
            <a:ext cx="4677537" cy="5010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0" i="0" u="none" strike="noStrike" kern="1200" cap="none" spc="0" baseline="0">
                <a:solidFill>
                  <a:srgbClr val="FFFFFF"/>
                </a:solidFill>
                <a:latin typeface="Aptos Display" pitchFamily="0" charset="0"/>
                <a:ea typeface="宋体" pitchFamily="0" charset="0"/>
                <a:cs typeface="Calibri" pitchFamily="0" charset="0"/>
              </a:rPr>
              <a:t>12. Functional &amp; Performance Testing</a:t>
            </a:r>
            <a:endParaRPr lang="zh-CN" altLang="en-US" sz="2700" b="0" i="0" u="none" strike="noStrike" kern="1200" cap="none" spc="0" baseline="0">
              <a:solidFill>
                <a:srgbClr val="FFFFFF"/>
              </a:solidFill>
              <a:latin typeface="Aptos Display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02" name="矩形"/>
          <p:cNvSpPr>
            <a:spLocks/>
          </p:cNvSpPr>
          <p:nvPr/>
        </p:nvSpPr>
        <p:spPr>
          <a:xfrm rot="0">
            <a:off x="502919" y="6510528"/>
            <a:ext cx="2540127" cy="21526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5F6C7A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Courier Management System  |  Salesforce Project     13/15</a:t>
            </a:r>
            <a:endParaRPr lang="zh-CN" altLang="en-US" sz="900" b="0" i="0" u="none" strike="noStrike" kern="1200" cap="none" spc="0" baseline="0">
              <a:solidFill>
                <a:srgbClr val="5F6C7A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03" name="矩形"/>
          <p:cNvSpPr>
            <a:spLocks/>
          </p:cNvSpPr>
          <p:nvPr/>
        </p:nvSpPr>
        <p:spPr>
          <a:xfrm rot="0">
            <a:off x="731520" y="1143000"/>
            <a:ext cx="10607040" cy="285445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73152" tIns="27432" rIns="4572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Record creation was verified for the configured Salesforce objects.</a:t>
            </a:r>
            <a:endParaRPr lang="en-US" altLang="zh-CN" sz="18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Validation rules were tested to ensure invalid records are blocked.</a:t>
            </a:r>
            <a:endParaRPr lang="en-US" altLang="zh-CN" sz="18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Delivery status updates were checked for correct synchronization.</a:t>
            </a:r>
            <a:endParaRPr lang="en-US" altLang="zh-CN" sz="18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Flow automation was verified for automatic shipment updates.</a:t>
            </a:r>
            <a:endParaRPr lang="en-US" altLang="zh-CN" sz="18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Invoice generation and billing data were checked.</a:t>
            </a:r>
            <a:endParaRPr lang="en-US" altLang="zh-CN" sz="18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Reports and dashboard visualizations were validated.</a:t>
            </a:r>
            <a:endParaRPr lang="en-US" altLang="zh-CN" sz="18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Testing focused on correct performance and reliability.</a:t>
            </a:r>
            <a:endParaRPr lang="zh-CN" altLang="en-US" sz="18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04" name="圆角矩形"/>
          <p:cNvSpPr>
            <a:spLocks/>
          </p:cNvSpPr>
          <p:nvPr/>
        </p:nvSpPr>
        <p:spPr>
          <a:xfrm rot="0">
            <a:off x="2926080" y="5440679"/>
            <a:ext cx="6309359" cy="685800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D7E0E9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05" name="矩形"/>
          <p:cNvSpPr>
            <a:spLocks/>
          </p:cNvSpPr>
          <p:nvPr/>
        </p:nvSpPr>
        <p:spPr>
          <a:xfrm rot="0">
            <a:off x="2926080" y="5440679"/>
            <a:ext cx="82296" cy="685800"/>
          </a:xfrm>
          <a:prstGeom prst="rect"/>
          <a:solidFill>
            <a:srgbClr val="4393C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06" name="矩形"/>
          <p:cNvSpPr>
            <a:spLocks/>
          </p:cNvSpPr>
          <p:nvPr/>
        </p:nvSpPr>
        <p:spPr>
          <a:xfrm rot="0">
            <a:off x="3154680" y="5605272"/>
            <a:ext cx="1463420" cy="3581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Testing Outcome</a:t>
            </a:r>
            <a:endParaRPr lang="zh-CN" altLang="en-US" sz="18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07" name="矩形"/>
          <p:cNvSpPr>
            <a:spLocks/>
          </p:cNvSpPr>
          <p:nvPr/>
        </p:nvSpPr>
        <p:spPr>
          <a:xfrm rot="0">
            <a:off x="3154680" y="5980176"/>
            <a:ext cx="5897880" cy="6324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Scenarios were validated using Salesforce project screens.</a:t>
            </a:r>
            <a:endParaRPr lang="zh-CN" altLang="en-US" sz="14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700335"/>
      </p:ext>
    </p:extLst>
  </p:cSld>
  <p:clrMapOvr>
    <a:masterClrMapping/>
  </p:clrMapOvr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矩形"/>
          <p:cNvSpPr>
            <a:spLocks/>
          </p:cNvSpPr>
          <p:nvPr/>
        </p:nvSpPr>
        <p:spPr>
          <a:xfrm rot="0">
            <a:off x="0" y="0"/>
            <a:ext cx="12191694" cy="713232"/>
          </a:xfrm>
          <a:prstGeom prst="rect"/>
          <a:solidFill>
            <a:srgbClr val="172F4D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09" name="矩形"/>
          <p:cNvSpPr>
            <a:spLocks/>
          </p:cNvSpPr>
          <p:nvPr/>
        </p:nvSpPr>
        <p:spPr>
          <a:xfrm rot="0">
            <a:off x="502919" y="128015"/>
            <a:ext cx="3737990" cy="5010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0" i="0" u="none" strike="noStrike" kern="1200" cap="none" spc="0" baseline="0">
                <a:solidFill>
                  <a:srgbClr val="FFFFFF"/>
                </a:solidFill>
                <a:latin typeface="Aptos Display" pitchFamily="0" charset="0"/>
                <a:ea typeface="宋体" pitchFamily="0" charset="0"/>
                <a:cs typeface="Calibri" pitchFamily="0" charset="0"/>
              </a:rPr>
              <a:t>13. Advantages &amp; Limitations</a:t>
            </a:r>
            <a:endParaRPr lang="zh-CN" altLang="en-US" sz="2700" b="0" i="0" u="none" strike="noStrike" kern="1200" cap="none" spc="0" baseline="0">
              <a:solidFill>
                <a:srgbClr val="FFFFFF"/>
              </a:solidFill>
              <a:latin typeface="Aptos Display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10" name="矩形"/>
          <p:cNvSpPr>
            <a:spLocks/>
          </p:cNvSpPr>
          <p:nvPr/>
        </p:nvSpPr>
        <p:spPr>
          <a:xfrm rot="0">
            <a:off x="502919" y="6510528"/>
            <a:ext cx="2540127" cy="21526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5F6C7A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Courier Management System  |  Salesforce Project     14/15</a:t>
            </a:r>
            <a:endParaRPr lang="zh-CN" altLang="en-US" sz="900" b="0" i="0" u="none" strike="noStrike" kern="1200" cap="none" spc="0" baseline="0">
              <a:solidFill>
                <a:srgbClr val="5F6C7A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11" name="圆角矩形"/>
          <p:cNvSpPr>
            <a:spLocks/>
          </p:cNvSpPr>
          <p:nvPr/>
        </p:nvSpPr>
        <p:spPr>
          <a:xfrm rot="0">
            <a:off x="731520" y="1188720"/>
            <a:ext cx="5212080" cy="4206240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D7E0E9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12" name="矩形"/>
          <p:cNvSpPr>
            <a:spLocks/>
          </p:cNvSpPr>
          <p:nvPr/>
        </p:nvSpPr>
        <p:spPr>
          <a:xfrm rot="0">
            <a:off x="731520" y="1188720"/>
            <a:ext cx="82295" cy="4206240"/>
          </a:xfrm>
          <a:prstGeom prst="rect"/>
          <a:solidFill>
            <a:srgbClr val="2A68A8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13" name="矩形"/>
          <p:cNvSpPr>
            <a:spLocks/>
          </p:cNvSpPr>
          <p:nvPr/>
        </p:nvSpPr>
        <p:spPr>
          <a:xfrm rot="0">
            <a:off x="960120" y="1353312"/>
            <a:ext cx="1083945" cy="3581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Advantages</a:t>
            </a:r>
            <a:endParaRPr lang="zh-CN" altLang="en-US" sz="18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14" name="矩形"/>
          <p:cNvSpPr>
            <a:spLocks/>
          </p:cNvSpPr>
          <p:nvPr/>
        </p:nvSpPr>
        <p:spPr>
          <a:xfrm rot="0">
            <a:off x="960120" y="1847088"/>
            <a:ext cx="4800600" cy="13487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✓ Centralized data</a:t>
            </a:r>
            <a:br>
              <a:rPr lang="zh-CN" altLang="en-US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✓ Automated workflows</a:t>
            </a:r>
            <a:br>
              <a:rPr lang="zh-CN" altLang="en-US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✓ Real-time reporting</a:t>
            </a:r>
            <a:br>
              <a:rPr lang="zh-CN" altLang="en-US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✓ Better shipment visibility</a:t>
            </a:r>
            <a:br>
              <a:rPr lang="zh-CN" altLang="en-US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✓ Supports multi-branch operations</a:t>
            </a:r>
            <a:br>
              <a:rPr lang="zh-CN" altLang="en-US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✓ Improved customer communication</a:t>
            </a:r>
            <a:endParaRPr lang="zh-CN" altLang="en-US" sz="14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15" name="圆角矩形"/>
          <p:cNvSpPr>
            <a:spLocks/>
          </p:cNvSpPr>
          <p:nvPr/>
        </p:nvSpPr>
        <p:spPr>
          <a:xfrm rot="0">
            <a:off x="6217920" y="1188720"/>
            <a:ext cx="5212080" cy="4206240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D7E0E9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16" name="矩形"/>
          <p:cNvSpPr>
            <a:spLocks/>
          </p:cNvSpPr>
          <p:nvPr/>
        </p:nvSpPr>
        <p:spPr>
          <a:xfrm rot="0">
            <a:off x="6217920" y="1188720"/>
            <a:ext cx="82296" cy="4206240"/>
          </a:xfrm>
          <a:prstGeom prst="rect"/>
          <a:solidFill>
            <a:srgbClr val="4393C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17" name="矩形"/>
          <p:cNvSpPr>
            <a:spLocks/>
          </p:cNvSpPr>
          <p:nvPr/>
        </p:nvSpPr>
        <p:spPr>
          <a:xfrm rot="0">
            <a:off x="6446520" y="1353312"/>
            <a:ext cx="1303400" cy="3581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Disadvantages</a:t>
            </a:r>
            <a:endParaRPr lang="zh-CN" altLang="en-US" sz="18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18" name="矩形"/>
          <p:cNvSpPr>
            <a:spLocks/>
          </p:cNvSpPr>
          <p:nvPr/>
        </p:nvSpPr>
        <p:spPr>
          <a:xfrm rot="0">
            <a:off x="6446520" y="1847088"/>
            <a:ext cx="4800600" cy="929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Salesforce dependency</a:t>
            </a:r>
            <a:br>
              <a:rPr lang="zh-CN" altLang="en-US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Requires initial configuration effort</a:t>
            </a:r>
            <a:br>
              <a:rPr lang="zh-CN" altLang="en-US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Users need appropriate access setup</a:t>
            </a:r>
            <a:br>
              <a:rPr lang="zh-CN" altLang="en-US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• Ongoing administration is required</a:t>
            </a:r>
            <a:endParaRPr lang="zh-CN" altLang="en-US" sz="14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064301"/>
      </p:ext>
    </p:extLst>
  </p:cSld>
  <p:clrMapOvr>
    <a:masterClrMapping/>
  </p:clrMapOvr>
</p:sld>
</file>

<file path=ppt/slides/slide1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矩形"/>
          <p:cNvSpPr>
            <a:spLocks/>
          </p:cNvSpPr>
          <p:nvPr/>
        </p:nvSpPr>
        <p:spPr>
          <a:xfrm rot="0">
            <a:off x="0" y="0"/>
            <a:ext cx="12191694" cy="713232"/>
          </a:xfrm>
          <a:prstGeom prst="rect"/>
          <a:solidFill>
            <a:srgbClr val="172F4D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20" name="矩形"/>
          <p:cNvSpPr>
            <a:spLocks/>
          </p:cNvSpPr>
          <p:nvPr/>
        </p:nvSpPr>
        <p:spPr>
          <a:xfrm rot="0">
            <a:off x="502919" y="128015"/>
            <a:ext cx="3765423" cy="5010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700" b="0" i="0" u="none" strike="noStrike" kern="1200" cap="none" spc="0" baseline="0">
                <a:solidFill>
                  <a:srgbClr val="FFFFFF"/>
                </a:solidFill>
                <a:latin typeface="Aptos Display" pitchFamily="0" charset="0"/>
                <a:ea typeface="宋体" pitchFamily="0" charset="0"/>
                <a:cs typeface="Calibri" pitchFamily="0" charset="0"/>
              </a:rPr>
              <a:t>14. Conclusion &amp; Future Scope</a:t>
            </a:r>
            <a:endParaRPr lang="zh-CN" altLang="en-US" sz="2700" b="0" i="0" u="none" strike="noStrike" kern="1200" cap="none" spc="0" baseline="0">
              <a:solidFill>
                <a:srgbClr val="FFFFFF"/>
              </a:solidFill>
              <a:latin typeface="Aptos Display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21" name="矩形"/>
          <p:cNvSpPr>
            <a:spLocks/>
          </p:cNvSpPr>
          <p:nvPr/>
        </p:nvSpPr>
        <p:spPr>
          <a:xfrm rot="0">
            <a:off x="502919" y="6510528"/>
            <a:ext cx="2540127" cy="21526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5F6C7A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Courier Management System  |  Salesforce Project     15/15</a:t>
            </a:r>
            <a:endParaRPr lang="zh-CN" altLang="en-US" sz="900" b="0" i="0" u="none" strike="noStrike" kern="1200" cap="none" spc="0" baseline="0">
              <a:solidFill>
                <a:srgbClr val="5F6C7A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22" name="圆角矩形"/>
          <p:cNvSpPr>
            <a:spLocks/>
          </p:cNvSpPr>
          <p:nvPr/>
        </p:nvSpPr>
        <p:spPr>
          <a:xfrm rot="0">
            <a:off x="685800" y="1097280"/>
            <a:ext cx="5257800" cy="3474720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D7E0E9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23" name="矩形"/>
          <p:cNvSpPr>
            <a:spLocks/>
          </p:cNvSpPr>
          <p:nvPr/>
        </p:nvSpPr>
        <p:spPr>
          <a:xfrm rot="0">
            <a:off x="685800" y="1097280"/>
            <a:ext cx="82295" cy="3474720"/>
          </a:xfrm>
          <a:prstGeom prst="rect"/>
          <a:solidFill>
            <a:srgbClr val="2A68A8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24" name="矩形"/>
          <p:cNvSpPr>
            <a:spLocks/>
          </p:cNvSpPr>
          <p:nvPr/>
        </p:nvSpPr>
        <p:spPr>
          <a:xfrm rot="0">
            <a:off x="914400" y="1261872"/>
            <a:ext cx="983361" cy="3581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Conclusion</a:t>
            </a:r>
            <a:endParaRPr lang="zh-CN" altLang="en-US" sz="18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25" name="矩形"/>
          <p:cNvSpPr>
            <a:spLocks/>
          </p:cNvSpPr>
          <p:nvPr/>
        </p:nvSpPr>
        <p:spPr>
          <a:xfrm rot="0">
            <a:off x="914400" y="1755648"/>
            <a:ext cx="4846320" cy="7200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The Courier Management System digitizes courier operations using Salesforce automation. It centralizes shipment management, improves tracking visibility, supports secure access and provides reports for operational decision-making.</a:t>
            </a:r>
            <a:endParaRPr lang="zh-CN" altLang="en-US" sz="14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26" name="圆角矩形"/>
          <p:cNvSpPr>
            <a:spLocks/>
          </p:cNvSpPr>
          <p:nvPr/>
        </p:nvSpPr>
        <p:spPr>
          <a:xfrm rot="0">
            <a:off x="6217920" y="1097280"/>
            <a:ext cx="5257800" cy="3474720"/>
          </a:xfrm>
          <a:prstGeom prst="roundRect">
            <a:avLst>
              <a:gd name="adj" fmla="val 16666"/>
            </a:avLst>
          </a:prstGeom>
          <a:solidFill>
            <a:srgbClr val="F2F6FA"/>
          </a:solidFill>
          <a:ln w="9525" cmpd="sng" cap="flat">
            <a:solidFill>
              <a:srgbClr val="D7E0E9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27" name="矩形"/>
          <p:cNvSpPr>
            <a:spLocks/>
          </p:cNvSpPr>
          <p:nvPr/>
        </p:nvSpPr>
        <p:spPr>
          <a:xfrm rot="0">
            <a:off x="6217920" y="1097280"/>
            <a:ext cx="82296" cy="3474720"/>
          </a:xfrm>
          <a:prstGeom prst="rect"/>
          <a:solidFill>
            <a:srgbClr val="4393CB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28" name="矩形"/>
          <p:cNvSpPr>
            <a:spLocks/>
          </p:cNvSpPr>
          <p:nvPr/>
        </p:nvSpPr>
        <p:spPr>
          <a:xfrm rot="0">
            <a:off x="6446520" y="1261872"/>
            <a:ext cx="1216532" cy="3581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172F4D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Future Scope</a:t>
            </a:r>
            <a:endParaRPr lang="zh-CN" altLang="en-US" sz="1800" b="0" i="0" u="none" strike="noStrike" kern="1200" cap="none" spc="0" baseline="0">
              <a:solidFill>
                <a:srgbClr val="172F4D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29" name="矩形"/>
          <p:cNvSpPr>
            <a:spLocks/>
          </p:cNvSpPr>
          <p:nvPr/>
        </p:nvSpPr>
        <p:spPr>
          <a:xfrm rot="0">
            <a:off x="6446520" y="1755648"/>
            <a:ext cx="4846320" cy="929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Mobile tracking app</a:t>
            </a:r>
            <a:br>
              <a:rPr lang="zh-CN" altLang="en-US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GPS integration</a:t>
            </a:r>
            <a:br>
              <a:rPr lang="zh-CN" altLang="en-US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SMS notifications</a:t>
            </a:r>
            <a:br>
              <a:rPr lang="zh-CN" altLang="en-US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1400" b="0" i="0" u="none" strike="noStrike" kern="1200" cap="none" spc="0" baseline="0">
                <a:solidFill>
                  <a:srgbClr val="232B34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AI-based delivery optimization</a:t>
            </a:r>
            <a:endParaRPr lang="zh-CN" altLang="en-US" sz="1400" b="0" i="0" u="none" strike="noStrike" kern="1200" cap="none" spc="0" baseline="0">
              <a:solidFill>
                <a:srgbClr val="232B34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30" name="矩形"/>
          <p:cNvSpPr>
            <a:spLocks/>
          </p:cNvSpPr>
          <p:nvPr/>
        </p:nvSpPr>
        <p:spPr>
          <a:xfrm rot="0">
            <a:off x="5138737" y="5166360"/>
            <a:ext cx="1975484" cy="7486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0" i="0" u="none" strike="noStrike" kern="1200" cap="none" spc="0" baseline="0">
                <a:solidFill>
                  <a:srgbClr val="172F4D"/>
                </a:solidFill>
                <a:latin typeface="Aptos Display" pitchFamily="0" charset="0"/>
                <a:ea typeface="宋体" pitchFamily="0" charset="0"/>
                <a:cs typeface="Calibri" pitchFamily="0" charset="0"/>
              </a:rPr>
              <a:t>THANK YOU</a:t>
            </a:r>
            <a:endParaRPr lang="en-US" altLang="zh-CN" sz="3000" b="0" i="0" u="none" strike="noStrike" kern="1200" cap="none" spc="0" baseline="0">
              <a:solidFill>
                <a:srgbClr val="172F4D"/>
              </a:solidFill>
              <a:latin typeface="Aptos Display" pitchFamily="0" charset="0"/>
              <a:ea typeface="宋体" pitchFamily="0" charset="0"/>
              <a:cs typeface="Calibri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5F6C7A"/>
                </a:solidFill>
                <a:latin typeface="Aptos" pitchFamily="0" charset="0"/>
                <a:ea typeface="宋体" pitchFamily="0" charset="0"/>
                <a:cs typeface="Calibri" pitchFamily="0" charset="0"/>
              </a:rPr>
              <a:t>Courier Management System</a:t>
            </a:r>
            <a:endParaRPr lang="zh-CN" altLang="en-US" sz="1400" b="0" i="0" u="none" strike="noStrike" kern="1200" cap="none" spc="0" baseline="0">
              <a:solidFill>
                <a:srgbClr val="5F6C7A"/>
              </a:solidFill>
              <a:latin typeface="Aptos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622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7</TotalTime>
  <Application>Yozo_Office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description>generated using python-pptx</dc:description>
  <cp:lastModifiedBy>root</cp:lastModifiedBy>
  <cp:revision>1</cp:revision>
  <dcterms:created xsi:type="dcterms:W3CDTF">2013-01-27T09:14:16Z</dcterms:created>
  <dcterms:modified xsi:type="dcterms:W3CDTF">2026-09-27T06:27:27Z</dcterms:modified>
</cp:coreProperties>
</file>